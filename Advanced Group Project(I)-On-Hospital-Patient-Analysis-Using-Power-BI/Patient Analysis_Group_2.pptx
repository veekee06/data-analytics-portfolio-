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8288000" cy="10287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Ramabhadra" panose="020B0604020202020204" charset="0"/>
      <p:regular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Bold" panose="02000000000000000000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660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53841" y="362451"/>
            <a:ext cx="15854591" cy="1585459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5D7B">
                <a:alpha val="4706"/>
              </a:srgbClr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5400000">
            <a:off x="7886577" y="-7216886"/>
            <a:ext cx="3415416" cy="19188571"/>
            <a:chOff x="0" y="0"/>
            <a:chExt cx="899533" cy="505378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9533" cy="5053780"/>
            </a:xfrm>
            <a:custGeom>
              <a:avLst/>
              <a:gdLst/>
              <a:ahLst/>
              <a:cxnLst/>
              <a:rect l="l" t="t" r="r" b="b"/>
              <a:pathLst>
                <a:path w="899533" h="5053780">
                  <a:moveTo>
                    <a:pt x="0" y="0"/>
                  </a:moveTo>
                  <a:lnTo>
                    <a:pt x="899533" y="0"/>
                  </a:lnTo>
                  <a:lnTo>
                    <a:pt x="899533" y="5053780"/>
                  </a:lnTo>
                  <a:lnTo>
                    <a:pt x="0" y="5053780"/>
                  </a:lnTo>
                  <a:close/>
                </a:path>
              </a:pathLst>
            </a:custGeom>
            <a:gradFill rotWithShape="1">
              <a:gsLst>
                <a:gs pos="0">
                  <a:srgbClr val="0092C8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899533" cy="50918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2650730" y="3890011"/>
            <a:ext cx="2646389" cy="8933278"/>
            <a:chOff x="0" y="0"/>
            <a:chExt cx="696991" cy="235279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6991" cy="2352798"/>
            </a:xfrm>
            <a:custGeom>
              <a:avLst/>
              <a:gdLst/>
              <a:ahLst/>
              <a:cxnLst/>
              <a:rect l="l" t="t" r="r" b="b"/>
              <a:pathLst>
                <a:path w="696991" h="2352798">
                  <a:moveTo>
                    <a:pt x="0" y="0"/>
                  </a:moveTo>
                  <a:lnTo>
                    <a:pt x="696991" y="0"/>
                  </a:lnTo>
                  <a:lnTo>
                    <a:pt x="696991" y="2352798"/>
                  </a:lnTo>
                  <a:lnTo>
                    <a:pt x="0" y="2352798"/>
                  </a:lnTo>
                  <a:close/>
                </a:path>
              </a:pathLst>
            </a:custGeom>
            <a:gradFill rotWithShape="1">
              <a:gsLst>
                <a:gs pos="0">
                  <a:srgbClr val="0092C8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96991" cy="23908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935601" y="2736408"/>
            <a:ext cx="12156235" cy="5582288"/>
            <a:chOff x="0" y="0"/>
            <a:chExt cx="6351016" cy="2916462"/>
          </a:xfrm>
        </p:grpSpPr>
        <p:sp>
          <p:nvSpPr>
            <p:cNvPr id="12" name="Freeform 12"/>
            <p:cNvSpPr/>
            <p:nvPr/>
          </p:nvSpPr>
          <p:spPr>
            <a:xfrm>
              <a:off x="-58" y="3254"/>
              <a:ext cx="6351044" cy="2898084"/>
            </a:xfrm>
            <a:custGeom>
              <a:avLst/>
              <a:gdLst/>
              <a:ahLst/>
              <a:cxnLst/>
              <a:rect l="l" t="t" r="r" b="b"/>
              <a:pathLst>
                <a:path w="6351044" h="2898084">
                  <a:moveTo>
                    <a:pt x="5167307" y="2642249"/>
                  </a:moveTo>
                  <a:cubicBezTo>
                    <a:pt x="4705535" y="2658496"/>
                    <a:pt x="4236524" y="2724205"/>
                    <a:pt x="3754813" y="2625281"/>
                  </a:cubicBezTo>
                  <a:cubicBezTo>
                    <a:pt x="3585649" y="2724747"/>
                    <a:pt x="3397308" y="2651998"/>
                    <a:pt x="3199950" y="2624198"/>
                  </a:cubicBezTo>
                  <a:cubicBezTo>
                    <a:pt x="2897944" y="2677270"/>
                    <a:pt x="2508308" y="2654164"/>
                    <a:pt x="2015929" y="2720956"/>
                  </a:cubicBezTo>
                  <a:cubicBezTo>
                    <a:pt x="1688904" y="2733231"/>
                    <a:pt x="1373436" y="2731967"/>
                    <a:pt x="1034854" y="2792802"/>
                  </a:cubicBezTo>
                  <a:cubicBezTo>
                    <a:pt x="847529" y="2792983"/>
                    <a:pt x="646488" y="2786484"/>
                    <a:pt x="451797" y="2834863"/>
                  </a:cubicBezTo>
                  <a:cubicBezTo>
                    <a:pt x="-141166" y="2948133"/>
                    <a:pt x="34856" y="3017348"/>
                    <a:pt x="1328" y="2048342"/>
                  </a:cubicBezTo>
                  <a:cubicBezTo>
                    <a:pt x="16314" y="1596143"/>
                    <a:pt x="-7054" y="1093578"/>
                    <a:pt x="7424" y="584154"/>
                  </a:cubicBezTo>
                  <a:cubicBezTo>
                    <a:pt x="3614" y="463929"/>
                    <a:pt x="-196" y="316806"/>
                    <a:pt x="7678" y="176001"/>
                  </a:cubicBezTo>
                  <a:cubicBezTo>
                    <a:pt x="8821" y="131594"/>
                    <a:pt x="-48456" y="-36020"/>
                    <a:pt x="133408" y="25448"/>
                  </a:cubicBezTo>
                  <a:cubicBezTo>
                    <a:pt x="308033" y="72203"/>
                    <a:pt x="494723" y="29059"/>
                    <a:pt x="666808" y="83034"/>
                  </a:cubicBezTo>
                  <a:cubicBezTo>
                    <a:pt x="758121" y="29239"/>
                    <a:pt x="854260" y="-22558"/>
                    <a:pt x="964750" y="21477"/>
                  </a:cubicBezTo>
                  <a:cubicBezTo>
                    <a:pt x="1098354" y="-20780"/>
                    <a:pt x="1254310" y="10826"/>
                    <a:pt x="1399217" y="19672"/>
                  </a:cubicBezTo>
                  <a:cubicBezTo>
                    <a:pt x="1539552" y="-36020"/>
                    <a:pt x="1776534" y="82492"/>
                    <a:pt x="2055172" y="24726"/>
                  </a:cubicBezTo>
                  <a:cubicBezTo>
                    <a:pt x="2267262" y="174377"/>
                    <a:pt x="2502212" y="9021"/>
                    <a:pt x="2851081" y="141703"/>
                  </a:cubicBezTo>
                  <a:cubicBezTo>
                    <a:pt x="2911914" y="146035"/>
                    <a:pt x="2964492" y="169503"/>
                    <a:pt x="3102287" y="131233"/>
                  </a:cubicBezTo>
                  <a:cubicBezTo>
                    <a:pt x="3179757" y="190082"/>
                    <a:pt x="3272086" y="209036"/>
                    <a:pt x="3397054" y="239363"/>
                  </a:cubicBezTo>
                  <a:cubicBezTo>
                    <a:pt x="3441250" y="287923"/>
                    <a:pt x="3554407" y="125997"/>
                    <a:pt x="3753670" y="222214"/>
                  </a:cubicBezTo>
                  <a:cubicBezTo>
                    <a:pt x="3808915" y="240266"/>
                    <a:pt x="3830759" y="153075"/>
                    <a:pt x="4076631" y="239002"/>
                  </a:cubicBezTo>
                  <a:cubicBezTo>
                    <a:pt x="4174421" y="382876"/>
                    <a:pt x="4238810" y="251278"/>
                    <a:pt x="4457631" y="295144"/>
                  </a:cubicBezTo>
                  <a:cubicBezTo>
                    <a:pt x="4501192" y="272759"/>
                    <a:pt x="4549579" y="311210"/>
                    <a:pt x="4603046" y="346230"/>
                  </a:cubicBezTo>
                  <a:cubicBezTo>
                    <a:pt x="4689914" y="341898"/>
                    <a:pt x="4789355" y="337746"/>
                    <a:pt x="4899972" y="359228"/>
                  </a:cubicBezTo>
                  <a:cubicBezTo>
                    <a:pt x="5029004" y="300740"/>
                    <a:pt x="5169212" y="302184"/>
                    <a:pt x="5311071" y="407787"/>
                  </a:cubicBezTo>
                  <a:cubicBezTo>
                    <a:pt x="5399082" y="442266"/>
                    <a:pt x="5489506" y="389374"/>
                    <a:pt x="5599234" y="371503"/>
                  </a:cubicBezTo>
                  <a:cubicBezTo>
                    <a:pt x="5671116" y="402913"/>
                    <a:pt x="5757984" y="431796"/>
                    <a:pt x="5852218" y="440461"/>
                  </a:cubicBezTo>
                  <a:cubicBezTo>
                    <a:pt x="5911527" y="423492"/>
                    <a:pt x="5975154" y="479092"/>
                    <a:pt x="6041956" y="465192"/>
                  </a:cubicBezTo>
                  <a:cubicBezTo>
                    <a:pt x="6094915" y="415550"/>
                    <a:pt x="6157526" y="402552"/>
                    <a:pt x="6237282" y="463568"/>
                  </a:cubicBezTo>
                  <a:cubicBezTo>
                    <a:pt x="6379395" y="507975"/>
                    <a:pt x="6340533" y="511947"/>
                    <a:pt x="6350566" y="895549"/>
                  </a:cubicBezTo>
                  <a:cubicBezTo>
                    <a:pt x="6339009" y="1398114"/>
                    <a:pt x="6351328" y="1910787"/>
                    <a:pt x="6346883" y="2448914"/>
                  </a:cubicBezTo>
                  <a:cubicBezTo>
                    <a:pt x="6335199" y="2791719"/>
                    <a:pt x="6535097" y="2641527"/>
                    <a:pt x="5167307" y="2642249"/>
                  </a:cubicBezTo>
                  <a:close/>
                </a:path>
              </a:pathLst>
            </a:custGeom>
            <a:blipFill>
              <a:blip r:embed="rId2"/>
              <a:stretch>
                <a:fillRect t="-22911" b="-2332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7006102" y="1228580"/>
            <a:ext cx="14098611" cy="14098611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B5D7B">
                <a:alpha val="12941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54590" y="669691"/>
            <a:ext cx="4504710" cy="718017"/>
            <a:chOff x="0" y="0"/>
            <a:chExt cx="1186426" cy="18910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86426" cy="189107"/>
            </a:xfrm>
            <a:custGeom>
              <a:avLst/>
              <a:gdLst/>
              <a:ahLst/>
              <a:cxnLst/>
              <a:rect l="l" t="t" r="r" b="b"/>
              <a:pathLst>
                <a:path w="1186426" h="189107">
                  <a:moveTo>
                    <a:pt x="94554" y="0"/>
                  </a:moveTo>
                  <a:lnTo>
                    <a:pt x="1091872" y="0"/>
                  </a:lnTo>
                  <a:cubicBezTo>
                    <a:pt x="1116949" y="0"/>
                    <a:pt x="1140999" y="9962"/>
                    <a:pt x="1158732" y="27694"/>
                  </a:cubicBezTo>
                  <a:cubicBezTo>
                    <a:pt x="1176464" y="45426"/>
                    <a:pt x="1186426" y="69477"/>
                    <a:pt x="1186426" y="94554"/>
                  </a:cubicBezTo>
                  <a:lnTo>
                    <a:pt x="1186426" y="94554"/>
                  </a:lnTo>
                  <a:cubicBezTo>
                    <a:pt x="1186426" y="119631"/>
                    <a:pt x="1176464" y="143681"/>
                    <a:pt x="1158732" y="161413"/>
                  </a:cubicBezTo>
                  <a:cubicBezTo>
                    <a:pt x="1140999" y="179146"/>
                    <a:pt x="1116949" y="189107"/>
                    <a:pt x="1091872" y="189107"/>
                  </a:cubicBezTo>
                  <a:lnTo>
                    <a:pt x="94554" y="189107"/>
                  </a:lnTo>
                  <a:cubicBezTo>
                    <a:pt x="69477" y="189107"/>
                    <a:pt x="45426" y="179146"/>
                    <a:pt x="27694" y="161413"/>
                  </a:cubicBezTo>
                  <a:cubicBezTo>
                    <a:pt x="9962" y="143681"/>
                    <a:pt x="0" y="119631"/>
                    <a:pt x="0" y="94554"/>
                  </a:cubicBezTo>
                  <a:lnTo>
                    <a:pt x="0" y="94554"/>
                  </a:lnTo>
                  <a:cubicBezTo>
                    <a:pt x="0" y="69477"/>
                    <a:pt x="9962" y="45426"/>
                    <a:pt x="27694" y="27694"/>
                  </a:cubicBezTo>
                  <a:cubicBezTo>
                    <a:pt x="45426" y="9962"/>
                    <a:pt x="69477" y="0"/>
                    <a:pt x="94554" y="0"/>
                  </a:cubicBez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186426" cy="2272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902529" y="2165816"/>
            <a:ext cx="12305759" cy="12305759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571935" y="3682096"/>
            <a:ext cx="6966945" cy="2552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09"/>
              </a:lnSpc>
            </a:pPr>
            <a:r>
              <a:rPr lang="en-US" sz="7184">
                <a:solidFill>
                  <a:srgbClr val="FFFFFF"/>
                </a:solidFill>
                <a:latin typeface="Ramabhadra"/>
                <a:ea typeface="Ramabhadra"/>
                <a:cs typeface="Ramabhadra"/>
                <a:sym typeface="Ramabhadra"/>
              </a:rPr>
              <a:t>HOSPITAL PATIENT ANALYSIS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007268" y="6957256"/>
            <a:ext cx="7674568" cy="1979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By </a:t>
            </a:r>
          </a:p>
          <a:p>
            <a:pPr algn="ctr">
              <a:lnSpc>
                <a:spcPts val="5319"/>
              </a:lnSpc>
            </a:pPr>
            <a:endParaRPr lang="en-US" sz="3799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ctr">
              <a:lnSpc>
                <a:spcPts val="5319"/>
              </a:lnSpc>
              <a:spcBef>
                <a:spcPct val="0"/>
              </a:spcBef>
            </a:pPr>
            <a:r>
              <a:rPr lang="en-US" sz="379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GROUP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679154" y="2002059"/>
            <a:ext cx="21043921" cy="10565045"/>
            <a:chOff x="0" y="0"/>
            <a:chExt cx="834782" cy="419100"/>
          </a:xfrm>
        </p:grpSpPr>
        <p:sp>
          <p:nvSpPr>
            <p:cNvPr id="3" name="Freeform 3"/>
            <p:cNvSpPr/>
            <p:nvPr/>
          </p:nvSpPr>
          <p:spPr>
            <a:xfrm>
              <a:off x="6121" y="0"/>
              <a:ext cx="822540" cy="419100"/>
            </a:xfrm>
            <a:custGeom>
              <a:avLst/>
              <a:gdLst/>
              <a:ahLst/>
              <a:cxnLst/>
              <a:rect l="l" t="t" r="r" b="b"/>
              <a:pathLst>
                <a:path w="822540" h="419100">
                  <a:moveTo>
                    <a:pt x="22046" y="0"/>
                  </a:moveTo>
                  <a:lnTo>
                    <a:pt x="800494" y="0"/>
                  </a:lnTo>
                  <a:cubicBezTo>
                    <a:pt x="807273" y="0"/>
                    <a:pt x="813676" y="3119"/>
                    <a:pt x="817855" y="8458"/>
                  </a:cubicBezTo>
                  <a:cubicBezTo>
                    <a:pt x="822033" y="13797"/>
                    <a:pt x="823523" y="20761"/>
                    <a:pt x="821894" y="27342"/>
                  </a:cubicBezTo>
                  <a:lnTo>
                    <a:pt x="731710" y="391758"/>
                  </a:lnTo>
                  <a:cubicBezTo>
                    <a:pt x="727736" y="407819"/>
                    <a:pt x="713322" y="419100"/>
                    <a:pt x="696777" y="419100"/>
                  </a:cubicBezTo>
                  <a:lnTo>
                    <a:pt x="125763" y="419100"/>
                  </a:lnTo>
                  <a:cubicBezTo>
                    <a:pt x="109217" y="419100"/>
                    <a:pt x="94804" y="407819"/>
                    <a:pt x="90829" y="391758"/>
                  </a:cubicBezTo>
                  <a:lnTo>
                    <a:pt x="645" y="27342"/>
                  </a:lnTo>
                  <a:cubicBezTo>
                    <a:pt x="-983" y="20761"/>
                    <a:pt x="507" y="13797"/>
                    <a:pt x="4685" y="8458"/>
                  </a:cubicBezTo>
                  <a:cubicBezTo>
                    <a:pt x="8864" y="3119"/>
                    <a:pt x="15266" y="0"/>
                    <a:pt x="22046" y="0"/>
                  </a:cubicBezTo>
                  <a:close/>
                </a:path>
              </a:pathLst>
            </a:custGeom>
            <a:solidFill>
              <a:srgbClr val="0B5D7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38100"/>
              <a:ext cx="580782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8052040" y="-6305075"/>
            <a:ext cx="14929090" cy="10054285"/>
            <a:chOff x="0" y="0"/>
            <a:chExt cx="622300" cy="419100"/>
          </a:xfrm>
        </p:grpSpPr>
        <p:sp>
          <p:nvSpPr>
            <p:cNvPr id="6" name="Freeform 6"/>
            <p:cNvSpPr/>
            <p:nvPr/>
          </p:nvSpPr>
          <p:spPr>
            <a:xfrm>
              <a:off x="8628" y="0"/>
              <a:ext cx="605045" cy="419100"/>
            </a:xfrm>
            <a:custGeom>
              <a:avLst/>
              <a:gdLst/>
              <a:ahLst/>
              <a:cxnLst/>
              <a:rect l="l" t="t" r="r" b="b"/>
              <a:pathLst>
                <a:path w="605045" h="419100">
                  <a:moveTo>
                    <a:pt x="31076" y="0"/>
                  </a:moveTo>
                  <a:lnTo>
                    <a:pt x="573968" y="0"/>
                  </a:lnTo>
                  <a:cubicBezTo>
                    <a:pt x="583525" y="0"/>
                    <a:pt x="592550" y="4397"/>
                    <a:pt x="598440" y="11922"/>
                  </a:cubicBezTo>
                  <a:cubicBezTo>
                    <a:pt x="604330" y="19448"/>
                    <a:pt x="606430" y="29265"/>
                    <a:pt x="604134" y="38541"/>
                  </a:cubicBezTo>
                  <a:lnTo>
                    <a:pt x="519493" y="380559"/>
                  </a:lnTo>
                  <a:cubicBezTo>
                    <a:pt x="513890" y="403198"/>
                    <a:pt x="493573" y="419100"/>
                    <a:pt x="470251" y="419100"/>
                  </a:cubicBezTo>
                  <a:lnTo>
                    <a:pt x="134792" y="419100"/>
                  </a:lnTo>
                  <a:cubicBezTo>
                    <a:pt x="111470" y="419100"/>
                    <a:pt x="91153" y="403198"/>
                    <a:pt x="85551" y="380559"/>
                  </a:cubicBezTo>
                  <a:lnTo>
                    <a:pt x="910" y="38541"/>
                  </a:lnTo>
                  <a:cubicBezTo>
                    <a:pt x="-1386" y="29265"/>
                    <a:pt x="714" y="19448"/>
                    <a:pt x="6604" y="11922"/>
                  </a:cubicBezTo>
                  <a:cubicBezTo>
                    <a:pt x="12494" y="4397"/>
                    <a:pt x="21519" y="0"/>
                    <a:pt x="31076" y="0"/>
                  </a:cubicBez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-38100"/>
              <a:ext cx="368300" cy="4572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88312" y="3012758"/>
            <a:ext cx="6245542" cy="6245542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38996" r="-38996"/>
              </a:stretch>
            </a:blipFill>
          </p:spPr>
        </p:sp>
      </p:grpSp>
      <p:sp>
        <p:nvSpPr>
          <p:cNvPr id="10" name="TextBox 10"/>
          <p:cNvSpPr txBox="1"/>
          <p:nvPr/>
        </p:nvSpPr>
        <p:spPr>
          <a:xfrm>
            <a:off x="7367905" y="1557524"/>
            <a:ext cx="9891395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549"/>
              </a:lnSpc>
            </a:pPr>
            <a:r>
              <a:rPr lang="en-US" sz="7500">
                <a:solidFill>
                  <a:srgbClr val="FFFFFF"/>
                </a:solidFill>
                <a:latin typeface="Ramabhadra"/>
                <a:ea typeface="Ramabhadra"/>
                <a:cs typeface="Ramabhadra"/>
                <a:sym typeface="Ramabhadra"/>
              </a:rPr>
              <a:t>BACKGROUND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033854" y="3870736"/>
            <a:ext cx="10920095" cy="5202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2816" lvl="1" indent="-316408" algn="just">
              <a:lnSpc>
                <a:spcPts val="4103"/>
              </a:lnSpc>
              <a:buFont typeface="Arial"/>
              <a:buChar char="•"/>
            </a:pPr>
            <a:r>
              <a:rPr lang="en-US" sz="29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Hospitals collect a large amount of patient data daily, including patient demographics, medical conditions, billing information, admission types, test results and insurance details.</a:t>
            </a:r>
          </a:p>
          <a:p>
            <a:pPr marL="632816" lvl="1" indent="-316408" algn="just">
              <a:lnSpc>
                <a:spcPts val="4103"/>
              </a:lnSpc>
              <a:buFont typeface="Arial"/>
              <a:buChar char="•"/>
            </a:pPr>
            <a:r>
              <a:rPr lang="en-US" sz="29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However, most of this data is underutilised.</a:t>
            </a:r>
          </a:p>
          <a:p>
            <a:pPr marL="632816" lvl="1" indent="-316408" algn="just">
              <a:lnSpc>
                <a:spcPts val="4103"/>
              </a:lnSpc>
              <a:buFont typeface="Arial"/>
              <a:buChar char="•"/>
            </a:pPr>
            <a:r>
              <a:rPr lang="en-US" sz="29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This project uses a dashboard to transform raw hospital data into meaningful insights that can improve:</a:t>
            </a:r>
          </a:p>
          <a:p>
            <a:pPr marL="632816" lvl="1" indent="-316408" algn="just">
              <a:lnSpc>
                <a:spcPts val="4103"/>
              </a:lnSpc>
              <a:spcBef>
                <a:spcPct val="0"/>
              </a:spcBef>
              <a:buFont typeface="Arial"/>
              <a:buChar char="•"/>
            </a:pPr>
            <a:r>
              <a:rPr lang="en-US" sz="293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Patient care, hospital management, resource allocation, billing, and decision-making.</a:t>
            </a:r>
          </a:p>
          <a:p>
            <a:pPr algn="just">
              <a:lnSpc>
                <a:spcPts val="4103"/>
              </a:lnSpc>
              <a:spcBef>
                <a:spcPct val="0"/>
              </a:spcBef>
            </a:pPr>
            <a:endParaRPr lang="en-US" sz="293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2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95176" y="5286058"/>
            <a:ext cx="4183043" cy="4480596"/>
            <a:chOff x="0" y="0"/>
            <a:chExt cx="558800" cy="5985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800" cy="598549"/>
            </a:xfrm>
            <a:custGeom>
              <a:avLst/>
              <a:gdLst/>
              <a:ahLst/>
              <a:cxnLst/>
              <a:rect l="l" t="t" r="r" b="b"/>
              <a:pathLst>
                <a:path w="558800" h="598549">
                  <a:moveTo>
                    <a:pt x="33042" y="250957"/>
                  </a:moveTo>
                  <a:cubicBezTo>
                    <a:pt x="49299" y="271896"/>
                    <a:pt x="49332" y="327451"/>
                    <a:pt x="33167" y="348473"/>
                  </a:cubicBezTo>
                  <a:cubicBezTo>
                    <a:pt x="12843" y="374900"/>
                    <a:pt x="669" y="408710"/>
                    <a:pt x="669" y="445468"/>
                  </a:cubicBezTo>
                  <a:cubicBezTo>
                    <a:pt x="669" y="530355"/>
                    <a:pt x="64865" y="598549"/>
                    <a:pt x="143251" y="598549"/>
                  </a:cubicBezTo>
                  <a:cubicBezTo>
                    <a:pt x="177745" y="598549"/>
                    <a:pt x="209318" y="585555"/>
                    <a:pt x="233976" y="563848"/>
                  </a:cubicBezTo>
                  <a:cubicBezTo>
                    <a:pt x="253647" y="546533"/>
                    <a:pt x="305827" y="546530"/>
                    <a:pt x="325498" y="563846"/>
                  </a:cubicBezTo>
                  <a:cubicBezTo>
                    <a:pt x="350157" y="585554"/>
                    <a:pt x="381730" y="598549"/>
                    <a:pt x="416232" y="598549"/>
                  </a:cubicBezTo>
                  <a:cubicBezTo>
                    <a:pt x="494618" y="598549"/>
                    <a:pt x="558800" y="530355"/>
                    <a:pt x="558800" y="445468"/>
                  </a:cubicBezTo>
                  <a:cubicBezTo>
                    <a:pt x="558800" y="408436"/>
                    <a:pt x="546247" y="374398"/>
                    <a:pt x="525581" y="347885"/>
                  </a:cubicBezTo>
                  <a:cubicBezTo>
                    <a:pt x="509342" y="327054"/>
                    <a:pt x="509342" y="272208"/>
                    <a:pt x="525556" y="251355"/>
                  </a:cubicBezTo>
                  <a:cubicBezTo>
                    <a:pt x="546238" y="224757"/>
                    <a:pt x="558800" y="190525"/>
                    <a:pt x="558800" y="153082"/>
                  </a:cubicBezTo>
                  <a:cubicBezTo>
                    <a:pt x="558800" y="68927"/>
                    <a:pt x="494618" y="0"/>
                    <a:pt x="416232" y="0"/>
                  </a:cubicBezTo>
                  <a:cubicBezTo>
                    <a:pt x="382027" y="0"/>
                    <a:pt x="350824" y="12709"/>
                    <a:pt x="326295" y="33981"/>
                  </a:cubicBezTo>
                  <a:cubicBezTo>
                    <a:pt x="306327" y="51297"/>
                    <a:pt x="252153" y="51102"/>
                    <a:pt x="232185" y="33787"/>
                  </a:cubicBezTo>
                  <a:cubicBezTo>
                    <a:pt x="207787" y="12632"/>
                    <a:pt x="176670" y="0"/>
                    <a:pt x="142568" y="0"/>
                  </a:cubicBezTo>
                  <a:cubicBezTo>
                    <a:pt x="64181" y="0"/>
                    <a:pt x="0" y="68927"/>
                    <a:pt x="0" y="153082"/>
                  </a:cubicBezTo>
                  <a:cubicBezTo>
                    <a:pt x="0" y="190337"/>
                    <a:pt x="12437" y="224415"/>
                    <a:pt x="33042" y="250957"/>
                  </a:cubicBezTo>
                  <a:close/>
                </a:path>
              </a:pathLst>
            </a:custGeom>
            <a:solidFill>
              <a:srgbClr val="0B5D7B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4450" y="9512"/>
              <a:ext cx="469900" cy="541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2555839">
            <a:off x="9099246" y="-268779"/>
            <a:ext cx="13022504" cy="13022504"/>
            <a:chOff x="0" y="0"/>
            <a:chExt cx="5588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3296933" y="6515671"/>
            <a:ext cx="3552175" cy="1944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049394" y="4931833"/>
            <a:ext cx="4047253" cy="1310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30"/>
              </a:lnSpc>
            </a:pPr>
            <a:r>
              <a:rPr lang="en-US" sz="4500">
                <a:solidFill>
                  <a:srgbClr val="FFFFFF"/>
                </a:solidFill>
                <a:latin typeface="Ramabhadra"/>
                <a:ea typeface="Ramabhadra"/>
                <a:cs typeface="Ramabhadra"/>
                <a:sym typeface="Ramabhadra"/>
              </a:rPr>
              <a:t>Rising chronic disease rates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3518976" y="5286058"/>
            <a:ext cx="4183043" cy="4480596"/>
            <a:chOff x="0" y="0"/>
            <a:chExt cx="558800" cy="59854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58800" cy="598549"/>
            </a:xfrm>
            <a:custGeom>
              <a:avLst/>
              <a:gdLst/>
              <a:ahLst/>
              <a:cxnLst/>
              <a:rect l="l" t="t" r="r" b="b"/>
              <a:pathLst>
                <a:path w="558800" h="598549">
                  <a:moveTo>
                    <a:pt x="33042" y="250957"/>
                  </a:moveTo>
                  <a:cubicBezTo>
                    <a:pt x="49299" y="271896"/>
                    <a:pt x="49332" y="327451"/>
                    <a:pt x="33167" y="348473"/>
                  </a:cubicBezTo>
                  <a:cubicBezTo>
                    <a:pt x="12843" y="374900"/>
                    <a:pt x="669" y="408710"/>
                    <a:pt x="669" y="445468"/>
                  </a:cubicBezTo>
                  <a:cubicBezTo>
                    <a:pt x="669" y="530355"/>
                    <a:pt x="64865" y="598549"/>
                    <a:pt x="143251" y="598549"/>
                  </a:cubicBezTo>
                  <a:cubicBezTo>
                    <a:pt x="177745" y="598549"/>
                    <a:pt x="209318" y="585555"/>
                    <a:pt x="233976" y="563848"/>
                  </a:cubicBezTo>
                  <a:cubicBezTo>
                    <a:pt x="253647" y="546533"/>
                    <a:pt x="305827" y="546530"/>
                    <a:pt x="325498" y="563846"/>
                  </a:cubicBezTo>
                  <a:cubicBezTo>
                    <a:pt x="350157" y="585554"/>
                    <a:pt x="381730" y="598549"/>
                    <a:pt x="416232" y="598549"/>
                  </a:cubicBezTo>
                  <a:cubicBezTo>
                    <a:pt x="494618" y="598549"/>
                    <a:pt x="558800" y="530355"/>
                    <a:pt x="558800" y="445468"/>
                  </a:cubicBezTo>
                  <a:cubicBezTo>
                    <a:pt x="558800" y="408436"/>
                    <a:pt x="546247" y="374398"/>
                    <a:pt x="525581" y="347885"/>
                  </a:cubicBezTo>
                  <a:cubicBezTo>
                    <a:pt x="509342" y="327054"/>
                    <a:pt x="509342" y="272208"/>
                    <a:pt x="525556" y="251355"/>
                  </a:cubicBezTo>
                  <a:cubicBezTo>
                    <a:pt x="546238" y="224757"/>
                    <a:pt x="558800" y="190525"/>
                    <a:pt x="558800" y="153082"/>
                  </a:cubicBezTo>
                  <a:cubicBezTo>
                    <a:pt x="558800" y="68927"/>
                    <a:pt x="494618" y="0"/>
                    <a:pt x="416232" y="0"/>
                  </a:cubicBezTo>
                  <a:cubicBezTo>
                    <a:pt x="382027" y="0"/>
                    <a:pt x="350824" y="12709"/>
                    <a:pt x="326295" y="33981"/>
                  </a:cubicBezTo>
                  <a:cubicBezTo>
                    <a:pt x="306327" y="51297"/>
                    <a:pt x="252153" y="51102"/>
                    <a:pt x="232185" y="33787"/>
                  </a:cubicBezTo>
                  <a:cubicBezTo>
                    <a:pt x="207787" y="12632"/>
                    <a:pt x="176670" y="0"/>
                    <a:pt x="142568" y="0"/>
                  </a:cubicBezTo>
                  <a:cubicBezTo>
                    <a:pt x="64181" y="0"/>
                    <a:pt x="0" y="68927"/>
                    <a:pt x="0" y="153082"/>
                  </a:cubicBezTo>
                  <a:cubicBezTo>
                    <a:pt x="0" y="190337"/>
                    <a:pt x="12437" y="224415"/>
                    <a:pt x="33042" y="250957"/>
                  </a:cubicBezTo>
                  <a:close/>
                </a:path>
              </a:pathLst>
            </a:custGeom>
            <a:solidFill>
              <a:srgbClr val="0B5D7B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44450" y="9512"/>
              <a:ext cx="469900" cy="541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538360" y="0"/>
            <a:ext cx="10749640" cy="10287000"/>
          </a:xfrm>
          <a:custGeom>
            <a:avLst/>
            <a:gdLst/>
            <a:ahLst/>
            <a:cxnLst/>
            <a:rect l="l" t="t" r="r" b="b"/>
            <a:pathLst>
              <a:path w="10749640" h="10287000">
                <a:moveTo>
                  <a:pt x="0" y="0"/>
                </a:moveTo>
                <a:lnTo>
                  <a:pt x="10749640" y="0"/>
                </a:lnTo>
                <a:lnTo>
                  <a:pt x="1074964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99" r="-31134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4630619" y="5286058"/>
            <a:ext cx="4183043" cy="4480596"/>
            <a:chOff x="0" y="0"/>
            <a:chExt cx="558800" cy="59854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8800" cy="598549"/>
            </a:xfrm>
            <a:custGeom>
              <a:avLst/>
              <a:gdLst/>
              <a:ahLst/>
              <a:cxnLst/>
              <a:rect l="l" t="t" r="r" b="b"/>
              <a:pathLst>
                <a:path w="558800" h="598549">
                  <a:moveTo>
                    <a:pt x="33042" y="250957"/>
                  </a:moveTo>
                  <a:cubicBezTo>
                    <a:pt x="49299" y="271896"/>
                    <a:pt x="49332" y="327451"/>
                    <a:pt x="33167" y="348473"/>
                  </a:cubicBezTo>
                  <a:cubicBezTo>
                    <a:pt x="12843" y="374900"/>
                    <a:pt x="669" y="408710"/>
                    <a:pt x="669" y="445468"/>
                  </a:cubicBezTo>
                  <a:cubicBezTo>
                    <a:pt x="669" y="530355"/>
                    <a:pt x="64865" y="598549"/>
                    <a:pt x="143251" y="598549"/>
                  </a:cubicBezTo>
                  <a:cubicBezTo>
                    <a:pt x="177745" y="598549"/>
                    <a:pt x="209318" y="585555"/>
                    <a:pt x="233976" y="563848"/>
                  </a:cubicBezTo>
                  <a:cubicBezTo>
                    <a:pt x="253647" y="546533"/>
                    <a:pt x="305827" y="546530"/>
                    <a:pt x="325498" y="563846"/>
                  </a:cubicBezTo>
                  <a:cubicBezTo>
                    <a:pt x="350157" y="585554"/>
                    <a:pt x="381730" y="598549"/>
                    <a:pt x="416232" y="598549"/>
                  </a:cubicBezTo>
                  <a:cubicBezTo>
                    <a:pt x="494618" y="598549"/>
                    <a:pt x="558800" y="530355"/>
                    <a:pt x="558800" y="445468"/>
                  </a:cubicBezTo>
                  <a:cubicBezTo>
                    <a:pt x="558800" y="408436"/>
                    <a:pt x="546247" y="374398"/>
                    <a:pt x="525581" y="347885"/>
                  </a:cubicBezTo>
                  <a:cubicBezTo>
                    <a:pt x="509342" y="327054"/>
                    <a:pt x="509342" y="272208"/>
                    <a:pt x="525556" y="251355"/>
                  </a:cubicBezTo>
                  <a:cubicBezTo>
                    <a:pt x="546238" y="224757"/>
                    <a:pt x="558800" y="190525"/>
                    <a:pt x="558800" y="153082"/>
                  </a:cubicBezTo>
                  <a:cubicBezTo>
                    <a:pt x="558800" y="68927"/>
                    <a:pt x="494618" y="0"/>
                    <a:pt x="416232" y="0"/>
                  </a:cubicBezTo>
                  <a:cubicBezTo>
                    <a:pt x="382027" y="0"/>
                    <a:pt x="350824" y="12709"/>
                    <a:pt x="326295" y="33981"/>
                  </a:cubicBezTo>
                  <a:cubicBezTo>
                    <a:pt x="306327" y="51297"/>
                    <a:pt x="252153" y="51102"/>
                    <a:pt x="232185" y="33787"/>
                  </a:cubicBezTo>
                  <a:cubicBezTo>
                    <a:pt x="207787" y="12632"/>
                    <a:pt x="176670" y="0"/>
                    <a:pt x="142568" y="0"/>
                  </a:cubicBezTo>
                  <a:cubicBezTo>
                    <a:pt x="64181" y="0"/>
                    <a:pt x="0" y="68927"/>
                    <a:pt x="0" y="153082"/>
                  </a:cubicBezTo>
                  <a:cubicBezTo>
                    <a:pt x="0" y="190337"/>
                    <a:pt x="12437" y="224415"/>
                    <a:pt x="33042" y="250957"/>
                  </a:cubicBezTo>
                  <a:close/>
                </a:path>
              </a:pathLst>
            </a:custGeom>
            <a:solidFill>
              <a:srgbClr val="0B5D7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44450" y="9512"/>
              <a:ext cx="469900" cy="541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071416" y="171450"/>
            <a:ext cx="11484491" cy="971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sz="7500">
                <a:solidFill>
                  <a:srgbClr val="FFFFFF"/>
                </a:solidFill>
                <a:latin typeface="Ramabhadra"/>
                <a:ea typeface="Ramabhadra"/>
                <a:cs typeface="Ramabhadra"/>
                <a:sym typeface="Ramabhadra"/>
              </a:rPr>
              <a:t>PROBLEM STATEMENT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-177707" y="2698799"/>
            <a:ext cx="7912154" cy="1888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6"/>
              </a:lnSpc>
              <a:spcBef>
                <a:spcPct val="0"/>
              </a:spcBef>
            </a:pPr>
            <a:r>
              <a:rPr lang="en-US" sz="3640">
                <a:solidFill>
                  <a:srgbClr val="FFFFFF"/>
                </a:solidFill>
                <a:latin typeface="Ramabhadra"/>
                <a:ea typeface="Ramabhadra"/>
                <a:cs typeface="Ramabhadra"/>
                <a:sym typeface="Ramabhadra"/>
              </a:rPr>
              <a:t>Despite maintaining digital health records, hospitals face challenges in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66989" y="5576702"/>
            <a:ext cx="3792155" cy="3803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6"/>
              </a:lnSpc>
              <a:spcBef>
                <a:spcPct val="0"/>
              </a:spcBef>
            </a:pPr>
            <a:r>
              <a:rPr lang="en-US" sz="3640">
                <a:solidFill>
                  <a:srgbClr val="FFFFFF"/>
                </a:solidFill>
                <a:latin typeface="Ramabhadra"/>
                <a:ea typeface="Ramabhadra"/>
                <a:cs typeface="Ramabhadra"/>
                <a:sym typeface="Ramabhadra"/>
              </a:rPr>
              <a:t>Identifying  common medical conditions and their demographic patterns.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3442094" y="5274362"/>
            <a:ext cx="4183043" cy="4474614"/>
            <a:chOff x="0" y="0"/>
            <a:chExt cx="558800" cy="5977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58800" cy="597750"/>
            </a:xfrm>
            <a:custGeom>
              <a:avLst/>
              <a:gdLst/>
              <a:ahLst/>
              <a:cxnLst/>
              <a:rect l="l" t="t" r="r" b="b"/>
              <a:pathLst>
                <a:path w="558800" h="597750">
                  <a:moveTo>
                    <a:pt x="33042" y="250622"/>
                  </a:moveTo>
                  <a:cubicBezTo>
                    <a:pt x="49299" y="271533"/>
                    <a:pt x="49332" y="327014"/>
                    <a:pt x="33167" y="348007"/>
                  </a:cubicBezTo>
                  <a:cubicBezTo>
                    <a:pt x="12843" y="374399"/>
                    <a:pt x="669" y="408164"/>
                    <a:pt x="669" y="444873"/>
                  </a:cubicBezTo>
                  <a:cubicBezTo>
                    <a:pt x="669" y="529647"/>
                    <a:pt x="64865" y="597750"/>
                    <a:pt x="143251" y="597750"/>
                  </a:cubicBezTo>
                  <a:cubicBezTo>
                    <a:pt x="177745" y="597750"/>
                    <a:pt x="209318" y="584773"/>
                    <a:pt x="233976" y="563095"/>
                  </a:cubicBezTo>
                  <a:cubicBezTo>
                    <a:pt x="253647" y="545803"/>
                    <a:pt x="305827" y="545800"/>
                    <a:pt x="325498" y="563093"/>
                  </a:cubicBezTo>
                  <a:cubicBezTo>
                    <a:pt x="350157" y="584772"/>
                    <a:pt x="381730" y="597750"/>
                    <a:pt x="416232" y="597750"/>
                  </a:cubicBezTo>
                  <a:cubicBezTo>
                    <a:pt x="494618" y="597750"/>
                    <a:pt x="558800" y="529647"/>
                    <a:pt x="558800" y="444873"/>
                  </a:cubicBezTo>
                  <a:cubicBezTo>
                    <a:pt x="558800" y="407891"/>
                    <a:pt x="546247" y="373898"/>
                    <a:pt x="525581" y="347420"/>
                  </a:cubicBezTo>
                  <a:cubicBezTo>
                    <a:pt x="509342" y="326617"/>
                    <a:pt x="509342" y="271844"/>
                    <a:pt x="525556" y="251020"/>
                  </a:cubicBezTo>
                  <a:cubicBezTo>
                    <a:pt x="546238" y="224457"/>
                    <a:pt x="558800" y="190271"/>
                    <a:pt x="558800" y="152877"/>
                  </a:cubicBezTo>
                  <a:cubicBezTo>
                    <a:pt x="558800" y="68835"/>
                    <a:pt x="494618" y="0"/>
                    <a:pt x="416232" y="0"/>
                  </a:cubicBezTo>
                  <a:cubicBezTo>
                    <a:pt x="382027" y="0"/>
                    <a:pt x="350824" y="12692"/>
                    <a:pt x="326295" y="33935"/>
                  </a:cubicBezTo>
                  <a:cubicBezTo>
                    <a:pt x="306327" y="51229"/>
                    <a:pt x="252153" y="51034"/>
                    <a:pt x="232185" y="33742"/>
                  </a:cubicBezTo>
                  <a:cubicBezTo>
                    <a:pt x="207787" y="12615"/>
                    <a:pt x="176670" y="0"/>
                    <a:pt x="142568" y="0"/>
                  </a:cubicBezTo>
                  <a:cubicBezTo>
                    <a:pt x="64181" y="0"/>
                    <a:pt x="0" y="68835"/>
                    <a:pt x="0" y="152877"/>
                  </a:cubicBezTo>
                  <a:cubicBezTo>
                    <a:pt x="0" y="190083"/>
                    <a:pt x="12437" y="224116"/>
                    <a:pt x="33042" y="250622"/>
                  </a:cubicBezTo>
                  <a:close/>
                </a:path>
              </a:pathLst>
            </a:custGeom>
            <a:solidFill>
              <a:srgbClr val="0B5D7B">
                <a:alpha val="50980"/>
              </a:srgbClr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44450" y="9448"/>
              <a:ext cx="469900" cy="5407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714420" y="5734183"/>
            <a:ext cx="3792155" cy="3803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6"/>
              </a:lnSpc>
              <a:spcBef>
                <a:spcPct val="0"/>
              </a:spcBef>
            </a:pPr>
            <a:r>
              <a:rPr lang="en-US" sz="3640">
                <a:solidFill>
                  <a:srgbClr val="FFFFFF"/>
                </a:solidFill>
                <a:latin typeface="Ramabhadra"/>
                <a:ea typeface="Ramabhadra"/>
                <a:cs typeface="Ramabhadra"/>
                <a:sym typeface="Ramabhadra"/>
              </a:rPr>
              <a:t>Assessing how Insurance coverage impacts billing and hospital  stay trends.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8963776" y="5286058"/>
            <a:ext cx="4183043" cy="4474614"/>
            <a:chOff x="0" y="0"/>
            <a:chExt cx="558800" cy="59775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58800" cy="597750"/>
            </a:xfrm>
            <a:custGeom>
              <a:avLst/>
              <a:gdLst/>
              <a:ahLst/>
              <a:cxnLst/>
              <a:rect l="l" t="t" r="r" b="b"/>
              <a:pathLst>
                <a:path w="558800" h="597750">
                  <a:moveTo>
                    <a:pt x="33042" y="250622"/>
                  </a:moveTo>
                  <a:cubicBezTo>
                    <a:pt x="49299" y="271533"/>
                    <a:pt x="49332" y="327014"/>
                    <a:pt x="33167" y="348007"/>
                  </a:cubicBezTo>
                  <a:cubicBezTo>
                    <a:pt x="12843" y="374399"/>
                    <a:pt x="669" y="408164"/>
                    <a:pt x="669" y="444873"/>
                  </a:cubicBezTo>
                  <a:cubicBezTo>
                    <a:pt x="669" y="529647"/>
                    <a:pt x="64865" y="597750"/>
                    <a:pt x="143251" y="597750"/>
                  </a:cubicBezTo>
                  <a:cubicBezTo>
                    <a:pt x="177745" y="597750"/>
                    <a:pt x="209318" y="584773"/>
                    <a:pt x="233976" y="563095"/>
                  </a:cubicBezTo>
                  <a:cubicBezTo>
                    <a:pt x="253647" y="545803"/>
                    <a:pt x="305827" y="545800"/>
                    <a:pt x="325498" y="563093"/>
                  </a:cubicBezTo>
                  <a:cubicBezTo>
                    <a:pt x="350157" y="584772"/>
                    <a:pt x="381730" y="597750"/>
                    <a:pt x="416232" y="597750"/>
                  </a:cubicBezTo>
                  <a:cubicBezTo>
                    <a:pt x="494618" y="597750"/>
                    <a:pt x="558800" y="529647"/>
                    <a:pt x="558800" y="444873"/>
                  </a:cubicBezTo>
                  <a:cubicBezTo>
                    <a:pt x="558800" y="407891"/>
                    <a:pt x="546247" y="373898"/>
                    <a:pt x="525581" y="347420"/>
                  </a:cubicBezTo>
                  <a:cubicBezTo>
                    <a:pt x="509342" y="326617"/>
                    <a:pt x="509342" y="271844"/>
                    <a:pt x="525556" y="251020"/>
                  </a:cubicBezTo>
                  <a:cubicBezTo>
                    <a:pt x="546238" y="224457"/>
                    <a:pt x="558800" y="190271"/>
                    <a:pt x="558800" y="152877"/>
                  </a:cubicBezTo>
                  <a:cubicBezTo>
                    <a:pt x="558800" y="68835"/>
                    <a:pt x="494618" y="0"/>
                    <a:pt x="416232" y="0"/>
                  </a:cubicBezTo>
                  <a:cubicBezTo>
                    <a:pt x="382027" y="0"/>
                    <a:pt x="350824" y="12692"/>
                    <a:pt x="326295" y="33935"/>
                  </a:cubicBezTo>
                  <a:cubicBezTo>
                    <a:pt x="306327" y="51229"/>
                    <a:pt x="252153" y="51034"/>
                    <a:pt x="232185" y="33742"/>
                  </a:cubicBezTo>
                  <a:cubicBezTo>
                    <a:pt x="207787" y="12615"/>
                    <a:pt x="176670" y="0"/>
                    <a:pt x="142568" y="0"/>
                  </a:cubicBezTo>
                  <a:cubicBezTo>
                    <a:pt x="64181" y="0"/>
                    <a:pt x="0" y="68835"/>
                    <a:pt x="0" y="152877"/>
                  </a:cubicBezTo>
                  <a:cubicBezTo>
                    <a:pt x="0" y="190083"/>
                    <a:pt x="12437" y="224116"/>
                    <a:pt x="33042" y="250622"/>
                  </a:cubicBezTo>
                  <a:close/>
                </a:path>
              </a:pathLst>
            </a:custGeom>
            <a:solidFill>
              <a:srgbClr val="0B5D7B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44450" y="9448"/>
              <a:ext cx="469900" cy="5407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9185137" y="5674574"/>
            <a:ext cx="3792155" cy="31650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96"/>
              </a:lnSpc>
              <a:spcBef>
                <a:spcPct val="0"/>
              </a:spcBef>
            </a:pPr>
            <a:r>
              <a:rPr lang="en-US" sz="3640">
                <a:solidFill>
                  <a:srgbClr val="FFFFFF"/>
                </a:solidFill>
                <a:latin typeface="Ramabhadra"/>
                <a:ea typeface="Ramabhadra"/>
                <a:cs typeface="Ramabhadra"/>
                <a:sym typeface="Ramabhadra"/>
              </a:rPr>
              <a:t>Detecting which hospitals or Doctors manage  the highest patient loads.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876346" y="5674574"/>
            <a:ext cx="3792155" cy="3636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16"/>
              </a:lnSpc>
              <a:spcBef>
                <a:spcPct val="0"/>
              </a:spcBef>
            </a:pPr>
            <a:r>
              <a:rPr lang="en-US" sz="3440">
                <a:solidFill>
                  <a:srgbClr val="FFFFFF"/>
                </a:solidFill>
                <a:latin typeface="Ramabhadra"/>
                <a:ea typeface="Ramabhadra"/>
                <a:cs typeface="Ramabhadra"/>
                <a:sym typeface="Ramabhadra"/>
              </a:rPr>
              <a:t>Understanding how patient age, gender and types of admissions affect billing and hospital usuage.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460704" y="1965552"/>
            <a:ext cx="784746" cy="1384965"/>
            <a:chOff x="0" y="0"/>
            <a:chExt cx="406400" cy="71723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400" cy="717239"/>
            </a:xfrm>
            <a:custGeom>
              <a:avLst/>
              <a:gdLst/>
              <a:ahLst/>
              <a:cxnLst/>
              <a:rect l="l" t="t" r="r" b="b"/>
              <a:pathLst>
                <a:path w="406400" h="717239">
                  <a:moveTo>
                    <a:pt x="0" y="0"/>
                  </a:moveTo>
                  <a:lnTo>
                    <a:pt x="203200" y="0"/>
                  </a:lnTo>
                  <a:lnTo>
                    <a:pt x="406400" y="358619"/>
                  </a:lnTo>
                  <a:lnTo>
                    <a:pt x="203200" y="717239"/>
                  </a:lnTo>
                  <a:lnTo>
                    <a:pt x="0" y="717239"/>
                  </a:lnTo>
                  <a:lnTo>
                    <a:pt x="203200" y="358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77800" y="-38100"/>
              <a:ext cx="152400" cy="755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813266" y="381003"/>
            <a:ext cx="1200545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49"/>
              </a:lnSpc>
            </a:pPr>
            <a:r>
              <a:rPr lang="en-US" sz="7500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OBJECTIVES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6206" y="1869431"/>
            <a:ext cx="6958144" cy="462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4" lvl="1" indent="-345442" algn="l">
              <a:lnSpc>
                <a:spcPts val="3648"/>
              </a:lnSpc>
              <a:buAutoNum type="arabicPeriod"/>
            </a:pPr>
            <a:r>
              <a:rPr lang="en-US" sz="3200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Prevalence of Medical Condition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4564" y="2600885"/>
            <a:ext cx="6561428" cy="1270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50"/>
              </a:lnSpc>
              <a:spcBef>
                <a:spcPct val="0"/>
              </a:spcBef>
            </a:pPr>
            <a:r>
              <a:rPr lang="en-US" sz="2393">
                <a:solidFill>
                  <a:srgbClr val="0092C8"/>
                </a:solidFill>
                <a:latin typeface="Roboto"/>
                <a:ea typeface="Roboto"/>
                <a:cs typeface="Roboto"/>
                <a:sym typeface="Roboto"/>
              </a:rPr>
              <a:t>Identification of the most frequent medical conditions and their distribution by age  and gender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691804" y="1868315"/>
            <a:ext cx="5110782" cy="491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6236" lvl="1" algn="l">
              <a:lnSpc>
                <a:spcPts val="3762"/>
              </a:lnSpc>
            </a:pPr>
            <a:r>
              <a:rPr lang="en-US" sz="3300" dirty="0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2. Doctor- Patient Ratio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7742" y="4867084"/>
            <a:ext cx="4874844" cy="491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6236" lvl="1" algn="l">
              <a:lnSpc>
                <a:spcPts val="3762"/>
              </a:lnSpc>
            </a:pPr>
            <a:r>
              <a:rPr lang="en-US" sz="3300" dirty="0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3. Admission Patterns</a:t>
            </a:r>
          </a:p>
        </p:txBody>
      </p:sp>
      <p:grpSp>
        <p:nvGrpSpPr>
          <p:cNvPr id="10" name="Group 10"/>
          <p:cNvGrpSpPr/>
          <p:nvPr/>
        </p:nvGrpSpPr>
        <p:grpSpPr>
          <a:xfrm rot="-6558259">
            <a:off x="-4357502" y="3763208"/>
            <a:ext cx="5491069" cy="5377132"/>
            <a:chOff x="0" y="0"/>
            <a:chExt cx="747428" cy="73191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47428" cy="731919"/>
            </a:xfrm>
            <a:custGeom>
              <a:avLst/>
              <a:gdLst/>
              <a:ahLst/>
              <a:cxnLst/>
              <a:rect l="l" t="t" r="r" b="b"/>
              <a:pathLst>
                <a:path w="747428" h="731919">
                  <a:moveTo>
                    <a:pt x="44196" y="306876"/>
                  </a:moveTo>
                  <a:cubicBezTo>
                    <a:pt x="65941" y="332481"/>
                    <a:pt x="65985" y="400415"/>
                    <a:pt x="44362" y="426120"/>
                  </a:cubicBezTo>
                  <a:cubicBezTo>
                    <a:pt x="17178" y="458436"/>
                    <a:pt x="895" y="499780"/>
                    <a:pt x="895" y="544728"/>
                  </a:cubicBezTo>
                  <a:cubicBezTo>
                    <a:pt x="895" y="648531"/>
                    <a:pt x="86761" y="731919"/>
                    <a:pt x="191607" y="731919"/>
                  </a:cubicBezTo>
                  <a:cubicBezTo>
                    <a:pt x="237745" y="731919"/>
                    <a:pt x="279975" y="716030"/>
                    <a:pt x="312957" y="689486"/>
                  </a:cubicBezTo>
                  <a:cubicBezTo>
                    <a:pt x="339268" y="668312"/>
                    <a:pt x="409062" y="668309"/>
                    <a:pt x="435374" y="689483"/>
                  </a:cubicBezTo>
                  <a:cubicBezTo>
                    <a:pt x="468355" y="716028"/>
                    <a:pt x="510587" y="731919"/>
                    <a:pt x="556735" y="731919"/>
                  </a:cubicBezTo>
                  <a:cubicBezTo>
                    <a:pt x="661581" y="731919"/>
                    <a:pt x="747428" y="648531"/>
                    <a:pt x="747428" y="544728"/>
                  </a:cubicBezTo>
                  <a:cubicBezTo>
                    <a:pt x="747428" y="499445"/>
                    <a:pt x="730638" y="457822"/>
                    <a:pt x="702995" y="425402"/>
                  </a:cubicBezTo>
                  <a:cubicBezTo>
                    <a:pt x="681276" y="399929"/>
                    <a:pt x="681276" y="332862"/>
                    <a:pt x="702963" y="307363"/>
                  </a:cubicBezTo>
                  <a:cubicBezTo>
                    <a:pt x="730626" y="274837"/>
                    <a:pt x="747428" y="232978"/>
                    <a:pt x="747428" y="187192"/>
                  </a:cubicBezTo>
                  <a:cubicBezTo>
                    <a:pt x="747428" y="84285"/>
                    <a:pt x="661581" y="0"/>
                    <a:pt x="556735" y="0"/>
                  </a:cubicBezTo>
                  <a:cubicBezTo>
                    <a:pt x="510984" y="0"/>
                    <a:pt x="469247" y="15541"/>
                    <a:pt x="436439" y="41552"/>
                  </a:cubicBezTo>
                  <a:cubicBezTo>
                    <a:pt x="409730" y="62727"/>
                    <a:pt x="337270" y="62489"/>
                    <a:pt x="310562" y="41316"/>
                  </a:cubicBezTo>
                  <a:cubicBezTo>
                    <a:pt x="277928" y="15447"/>
                    <a:pt x="236306" y="0"/>
                    <a:pt x="190693" y="0"/>
                  </a:cubicBezTo>
                  <a:cubicBezTo>
                    <a:pt x="85846" y="0"/>
                    <a:pt x="0" y="84285"/>
                    <a:pt x="0" y="187192"/>
                  </a:cubicBezTo>
                  <a:cubicBezTo>
                    <a:pt x="0" y="232749"/>
                    <a:pt x="16635" y="274420"/>
                    <a:pt x="44196" y="306876"/>
                  </a:cubicBez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59455" y="20121"/>
              <a:ext cx="628519" cy="6535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46347" y="4595622"/>
            <a:ext cx="4874844" cy="491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6236" lvl="1" algn="l">
              <a:lnSpc>
                <a:spcPts val="3762"/>
              </a:lnSpc>
            </a:pPr>
            <a:r>
              <a:rPr lang="en-US" sz="3300" dirty="0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4. Correlations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19349" y="5311331"/>
            <a:ext cx="6031857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92C8"/>
                </a:solidFill>
                <a:latin typeface="Roboto"/>
                <a:ea typeface="Roboto"/>
                <a:cs typeface="Roboto"/>
                <a:sym typeface="Roboto"/>
              </a:rPr>
              <a:t>Explore relationships between demographics, test results, and medical conditions.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91804" y="2419040"/>
            <a:ext cx="6265323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92C8"/>
                </a:solidFill>
                <a:latin typeface="Roboto"/>
                <a:ea typeface="Roboto"/>
                <a:cs typeface="Roboto"/>
                <a:sym typeface="Roboto"/>
              </a:rPr>
              <a:t>Evaluation of hospital and doctor performance based on patient volume and billing amount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91804" y="5638991"/>
            <a:ext cx="6265323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92C8"/>
                </a:solidFill>
                <a:latin typeface="Roboto"/>
                <a:ea typeface="Roboto"/>
                <a:cs typeface="Roboto"/>
                <a:sym typeface="Roboto"/>
              </a:rPr>
              <a:t>Analyse patient admission patterns between urgent, elective and emergency admission types</a:t>
            </a:r>
          </a:p>
        </p:txBody>
      </p:sp>
      <p:grpSp>
        <p:nvGrpSpPr>
          <p:cNvPr id="17" name="Group 17"/>
          <p:cNvGrpSpPr/>
          <p:nvPr/>
        </p:nvGrpSpPr>
        <p:grpSpPr>
          <a:xfrm rot="-10800000">
            <a:off x="8359254" y="4857559"/>
            <a:ext cx="784746" cy="1384965"/>
            <a:chOff x="0" y="0"/>
            <a:chExt cx="406400" cy="71723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06400" cy="717239"/>
            </a:xfrm>
            <a:custGeom>
              <a:avLst/>
              <a:gdLst/>
              <a:ahLst/>
              <a:cxnLst/>
              <a:rect l="l" t="t" r="r" b="b"/>
              <a:pathLst>
                <a:path w="406400" h="717239">
                  <a:moveTo>
                    <a:pt x="0" y="0"/>
                  </a:moveTo>
                  <a:lnTo>
                    <a:pt x="203200" y="0"/>
                  </a:lnTo>
                  <a:lnTo>
                    <a:pt x="406400" y="358619"/>
                  </a:lnTo>
                  <a:lnTo>
                    <a:pt x="203200" y="717239"/>
                  </a:lnTo>
                  <a:lnTo>
                    <a:pt x="0" y="717239"/>
                  </a:lnTo>
                  <a:lnTo>
                    <a:pt x="203200" y="358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77800" y="-38100"/>
              <a:ext cx="152400" cy="755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5400000">
            <a:off x="11739609" y="3329875"/>
            <a:ext cx="784746" cy="1384965"/>
            <a:chOff x="0" y="0"/>
            <a:chExt cx="406400" cy="717239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6400" cy="717239"/>
            </a:xfrm>
            <a:custGeom>
              <a:avLst/>
              <a:gdLst/>
              <a:ahLst/>
              <a:cxnLst/>
              <a:rect l="l" t="t" r="r" b="b"/>
              <a:pathLst>
                <a:path w="406400" h="717239">
                  <a:moveTo>
                    <a:pt x="0" y="0"/>
                  </a:moveTo>
                  <a:lnTo>
                    <a:pt x="203200" y="0"/>
                  </a:lnTo>
                  <a:lnTo>
                    <a:pt x="406400" y="358619"/>
                  </a:lnTo>
                  <a:lnTo>
                    <a:pt x="203200" y="717239"/>
                  </a:lnTo>
                  <a:lnTo>
                    <a:pt x="0" y="717239"/>
                  </a:lnTo>
                  <a:lnTo>
                    <a:pt x="203200" y="358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77800" y="-38100"/>
              <a:ext cx="152400" cy="755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 rot="-3962928">
            <a:off x="13181471" y="-7414171"/>
            <a:ext cx="9682983" cy="10532749"/>
            <a:chOff x="0" y="0"/>
            <a:chExt cx="513717" cy="558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3717" cy="558800"/>
            </a:xfrm>
            <a:custGeom>
              <a:avLst/>
              <a:gdLst/>
              <a:ahLst/>
              <a:cxnLst/>
              <a:rect l="l" t="t" r="r" b="b"/>
              <a:pathLst>
                <a:path w="513717" h="558800">
                  <a:moveTo>
                    <a:pt x="30377" y="234291"/>
                  </a:moveTo>
                  <a:cubicBezTo>
                    <a:pt x="45322" y="253840"/>
                    <a:pt x="45352" y="305706"/>
                    <a:pt x="30491" y="325331"/>
                  </a:cubicBezTo>
                  <a:cubicBezTo>
                    <a:pt x="11807" y="350003"/>
                    <a:pt x="615" y="381568"/>
                    <a:pt x="615" y="415884"/>
                  </a:cubicBezTo>
                  <a:cubicBezTo>
                    <a:pt x="615" y="495135"/>
                    <a:pt x="59632" y="558800"/>
                    <a:pt x="131694" y="558800"/>
                  </a:cubicBezTo>
                  <a:cubicBezTo>
                    <a:pt x="163405" y="558800"/>
                    <a:pt x="192430" y="546669"/>
                    <a:pt x="215099" y="526404"/>
                  </a:cubicBezTo>
                  <a:cubicBezTo>
                    <a:pt x="233183" y="510238"/>
                    <a:pt x="281154" y="510235"/>
                    <a:pt x="299238" y="526401"/>
                  </a:cubicBezTo>
                  <a:cubicBezTo>
                    <a:pt x="321907" y="546668"/>
                    <a:pt x="350933" y="558800"/>
                    <a:pt x="382651" y="558800"/>
                  </a:cubicBezTo>
                  <a:cubicBezTo>
                    <a:pt x="454713" y="558800"/>
                    <a:pt x="513717" y="495135"/>
                    <a:pt x="513717" y="415884"/>
                  </a:cubicBezTo>
                  <a:cubicBezTo>
                    <a:pt x="513717" y="381312"/>
                    <a:pt x="502177" y="349534"/>
                    <a:pt x="483178" y="324782"/>
                  </a:cubicBezTo>
                  <a:cubicBezTo>
                    <a:pt x="468249" y="305335"/>
                    <a:pt x="468249" y="254131"/>
                    <a:pt x="483155" y="234663"/>
                  </a:cubicBezTo>
                  <a:cubicBezTo>
                    <a:pt x="502169" y="209831"/>
                    <a:pt x="513717" y="177872"/>
                    <a:pt x="513717" y="142916"/>
                  </a:cubicBezTo>
                  <a:cubicBezTo>
                    <a:pt x="513717" y="64349"/>
                    <a:pt x="454713" y="0"/>
                    <a:pt x="382651" y="0"/>
                  </a:cubicBezTo>
                  <a:cubicBezTo>
                    <a:pt x="351206" y="0"/>
                    <a:pt x="322520" y="11865"/>
                    <a:pt x="299970" y="31724"/>
                  </a:cubicBezTo>
                  <a:cubicBezTo>
                    <a:pt x="281613" y="47891"/>
                    <a:pt x="231810" y="47709"/>
                    <a:pt x="213453" y="31544"/>
                  </a:cubicBezTo>
                  <a:cubicBezTo>
                    <a:pt x="191023" y="11793"/>
                    <a:pt x="162416" y="0"/>
                    <a:pt x="131066" y="0"/>
                  </a:cubicBezTo>
                  <a:cubicBezTo>
                    <a:pt x="59003" y="0"/>
                    <a:pt x="0" y="64349"/>
                    <a:pt x="0" y="142916"/>
                  </a:cubicBezTo>
                  <a:cubicBezTo>
                    <a:pt x="0" y="177697"/>
                    <a:pt x="11433" y="209512"/>
                    <a:pt x="30377" y="234291"/>
                  </a:cubicBez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40864" y="6350"/>
              <a:ext cx="431989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 rot="5400000">
            <a:off x="3878119" y="6151664"/>
            <a:ext cx="784746" cy="1384965"/>
            <a:chOff x="0" y="0"/>
            <a:chExt cx="406400" cy="71723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06400" cy="717239"/>
            </a:xfrm>
            <a:custGeom>
              <a:avLst/>
              <a:gdLst/>
              <a:ahLst/>
              <a:cxnLst/>
              <a:rect l="l" t="t" r="r" b="b"/>
              <a:pathLst>
                <a:path w="406400" h="717239">
                  <a:moveTo>
                    <a:pt x="0" y="0"/>
                  </a:moveTo>
                  <a:lnTo>
                    <a:pt x="203200" y="0"/>
                  </a:lnTo>
                  <a:lnTo>
                    <a:pt x="406400" y="358619"/>
                  </a:lnTo>
                  <a:lnTo>
                    <a:pt x="203200" y="717239"/>
                  </a:lnTo>
                  <a:lnTo>
                    <a:pt x="0" y="717239"/>
                  </a:lnTo>
                  <a:lnTo>
                    <a:pt x="203200" y="3586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177800" y="-38100"/>
              <a:ext cx="152400" cy="7553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833071" y="7522270"/>
            <a:ext cx="4874844" cy="491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56236" lvl="1" algn="l">
              <a:lnSpc>
                <a:spcPts val="3762"/>
              </a:lnSpc>
            </a:pPr>
            <a:r>
              <a:rPr lang="en-US" sz="3300" dirty="0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5. </a:t>
            </a:r>
            <a:r>
              <a:rPr lang="en-US" sz="3300" dirty="0" err="1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Optimisation</a:t>
            </a:r>
            <a:endParaRPr lang="en-US" sz="3300" dirty="0">
              <a:solidFill>
                <a:srgbClr val="0092C8"/>
              </a:solidFill>
              <a:latin typeface="Ramabhadra"/>
              <a:ea typeface="Ramabhadra"/>
              <a:cs typeface="Ramabhadra"/>
              <a:sym typeface="Ramabhadra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519349" y="8313226"/>
            <a:ext cx="6031857" cy="772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92C8"/>
                </a:solidFill>
                <a:latin typeface="Roboto"/>
                <a:ea typeface="Roboto"/>
                <a:cs typeface="Roboto"/>
                <a:sym typeface="Roboto"/>
              </a:rPr>
              <a:t>Provide Actionable insights to improve  hospital management and patient services.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271733">
            <a:off x="-8170491" y="1172557"/>
            <a:ext cx="10120464" cy="9474477"/>
            <a:chOff x="0" y="0"/>
            <a:chExt cx="5969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6900" cy="558800"/>
            </a:xfrm>
            <a:custGeom>
              <a:avLst/>
              <a:gdLst/>
              <a:ahLst/>
              <a:cxnLst/>
              <a:rect l="l" t="t" r="r" b="b"/>
              <a:pathLst>
                <a:path w="596900" h="558800">
                  <a:moveTo>
                    <a:pt x="596900" y="0"/>
                  </a:moveTo>
                  <a:lnTo>
                    <a:pt x="596900" y="304800"/>
                  </a:lnTo>
                  <a:lnTo>
                    <a:pt x="330200" y="558800"/>
                  </a:lnTo>
                  <a:lnTo>
                    <a:pt x="0" y="558800"/>
                  </a:lnTo>
                  <a:lnTo>
                    <a:pt x="0" y="248920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01600" y="95250"/>
              <a:ext cx="393700" cy="3314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23860" y="-2068602"/>
            <a:ext cx="11546704" cy="5827138"/>
            <a:chOff x="0" y="0"/>
            <a:chExt cx="959843" cy="4843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59843" cy="484392"/>
            </a:xfrm>
            <a:custGeom>
              <a:avLst/>
              <a:gdLst/>
              <a:ahLst/>
              <a:cxnLst/>
              <a:rect l="l" t="t" r="r" b="b"/>
              <a:pathLst>
                <a:path w="959843" h="484392">
                  <a:moveTo>
                    <a:pt x="203200" y="0"/>
                  </a:moveTo>
                  <a:lnTo>
                    <a:pt x="959843" y="0"/>
                  </a:lnTo>
                  <a:lnTo>
                    <a:pt x="756643" y="484392"/>
                  </a:lnTo>
                  <a:lnTo>
                    <a:pt x="0" y="48439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B5D7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756643" cy="522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9569288" y="1440151"/>
            <a:ext cx="7177114" cy="2318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120"/>
              </a:lnSpc>
            </a:pPr>
            <a:r>
              <a:rPr lang="en-US" sz="8000">
                <a:solidFill>
                  <a:srgbClr val="FFFFFF"/>
                </a:solidFill>
                <a:latin typeface="Ramabhadra"/>
                <a:ea typeface="Ramabhadra"/>
                <a:cs typeface="Ramabhadra"/>
                <a:sym typeface="Ramabhadra"/>
              </a:rPr>
              <a:t>PROPOSED APPROACH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634336"/>
            <a:ext cx="6758392" cy="3253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130"/>
              </a:lnSpc>
            </a:pPr>
            <a:r>
              <a:rPr lang="en-US" sz="4800" b="1" dirty="0">
                <a:solidFill>
                  <a:srgbClr val="0B5D7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amabhadra"/>
              </a:rPr>
              <a:t>Power BI was used to clean, </a:t>
            </a:r>
            <a:r>
              <a:rPr lang="en-US" sz="4800" b="1" dirty="0" err="1">
                <a:solidFill>
                  <a:srgbClr val="0B5D7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amabhadra"/>
              </a:rPr>
              <a:t>analyse</a:t>
            </a:r>
            <a:r>
              <a:rPr lang="en-US" sz="4800" b="1" dirty="0">
                <a:solidFill>
                  <a:srgbClr val="0B5D7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amabhadra"/>
              </a:rPr>
              <a:t>, and </a:t>
            </a:r>
            <a:r>
              <a:rPr lang="en-US" sz="4800" b="1" dirty="0" err="1">
                <a:solidFill>
                  <a:srgbClr val="0B5D7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amabhadra"/>
              </a:rPr>
              <a:t>visualise</a:t>
            </a:r>
            <a:r>
              <a:rPr lang="en-US" sz="4800" b="1" dirty="0">
                <a:solidFill>
                  <a:srgbClr val="0B5D7B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Ramabhadra"/>
              </a:rPr>
              <a:t> the data using filters and aggregation techniques.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80408" y="5795596"/>
            <a:ext cx="10691665" cy="673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3"/>
              </a:lnSpc>
            </a:pPr>
            <a:r>
              <a:rPr lang="en-US" sz="4599">
                <a:solidFill>
                  <a:srgbClr val="0B5D7B"/>
                </a:solidFill>
                <a:latin typeface="Ramabhadra"/>
                <a:ea typeface="Ramabhadra"/>
                <a:cs typeface="Ramabhadra"/>
                <a:sym typeface="Ramabhadra"/>
              </a:rPr>
              <a:t>Key Performance Indicators (KPI)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81872" y="6835813"/>
            <a:ext cx="6377763" cy="2537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3117" lvl="1" indent="-316559" algn="just">
              <a:lnSpc>
                <a:spcPts val="4105"/>
              </a:lnSpc>
              <a:buFont typeface="Arial"/>
              <a:buChar char="•"/>
            </a:pPr>
            <a:r>
              <a:rPr lang="en-US" sz="2932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Total Patients: 40.2K</a:t>
            </a:r>
          </a:p>
          <a:p>
            <a:pPr marL="633117" lvl="1" indent="-316559" algn="just">
              <a:lnSpc>
                <a:spcPts val="4105"/>
              </a:lnSpc>
              <a:buFont typeface="Arial"/>
              <a:buChar char="•"/>
            </a:pPr>
            <a:r>
              <a:rPr lang="en-US" sz="2932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Total Revenue: 1.42 billion</a:t>
            </a:r>
          </a:p>
          <a:p>
            <a:pPr marL="633117" lvl="1" indent="-316559" algn="just">
              <a:lnSpc>
                <a:spcPts val="4105"/>
              </a:lnSpc>
              <a:buFont typeface="Arial"/>
              <a:buChar char="•"/>
            </a:pPr>
            <a:r>
              <a:rPr lang="en-US" sz="2932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Average Revenue: 25.54K</a:t>
            </a:r>
          </a:p>
          <a:p>
            <a:pPr marL="633117" lvl="1" indent="-316559" algn="just">
              <a:lnSpc>
                <a:spcPts val="4105"/>
              </a:lnSpc>
              <a:buFont typeface="Arial"/>
              <a:buChar char="•"/>
            </a:pPr>
            <a:r>
              <a:rPr lang="en-US" sz="2932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Total admissions: 56K</a:t>
            </a:r>
          </a:p>
          <a:p>
            <a:pPr algn="just">
              <a:lnSpc>
                <a:spcPts val="3825"/>
              </a:lnSpc>
              <a:spcBef>
                <a:spcPct val="0"/>
              </a:spcBef>
            </a:pPr>
            <a:endParaRPr lang="en-US" sz="2932" b="1" dirty="0">
              <a:solidFill>
                <a:srgbClr val="0B5D7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grpSp>
        <p:nvGrpSpPr>
          <p:cNvPr id="12" name="Group 12"/>
          <p:cNvGrpSpPr/>
          <p:nvPr/>
        </p:nvGrpSpPr>
        <p:grpSpPr>
          <a:xfrm rot="-10800000">
            <a:off x="12351468" y="6637556"/>
            <a:ext cx="10120464" cy="6492538"/>
            <a:chOff x="0" y="0"/>
            <a:chExt cx="596900" cy="38292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96900" cy="382927"/>
            </a:xfrm>
            <a:custGeom>
              <a:avLst/>
              <a:gdLst/>
              <a:ahLst/>
              <a:cxnLst/>
              <a:rect l="l" t="t" r="r" b="b"/>
              <a:pathLst>
                <a:path w="596900" h="382927">
                  <a:moveTo>
                    <a:pt x="596900" y="0"/>
                  </a:moveTo>
                  <a:lnTo>
                    <a:pt x="596900" y="208869"/>
                  </a:lnTo>
                  <a:lnTo>
                    <a:pt x="330200" y="382927"/>
                  </a:lnTo>
                  <a:lnTo>
                    <a:pt x="0" y="382927"/>
                  </a:lnTo>
                  <a:lnTo>
                    <a:pt x="0" y="170576"/>
                  </a:lnTo>
                  <a:lnTo>
                    <a:pt x="262890" y="0"/>
                  </a:lnTo>
                  <a:lnTo>
                    <a:pt x="596900" y="0"/>
                  </a:lnTo>
                  <a:close/>
                </a:path>
              </a:pathLst>
            </a:custGeom>
            <a:solidFill>
              <a:srgbClr val="0092C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53280"/>
              <a:ext cx="393700" cy="239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1999" y="3098226"/>
            <a:ext cx="7908899" cy="4090548"/>
            <a:chOff x="0" y="0"/>
            <a:chExt cx="16965401" cy="877464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965426" cy="8774684"/>
            </a:xfrm>
            <a:custGeom>
              <a:avLst/>
              <a:gdLst/>
              <a:ahLst/>
              <a:cxnLst/>
              <a:rect l="l" t="t" r="r" b="b"/>
              <a:pathLst>
                <a:path w="16965426" h="8774684">
                  <a:moveTo>
                    <a:pt x="0" y="0"/>
                  </a:moveTo>
                  <a:lnTo>
                    <a:pt x="16965426" y="0"/>
                  </a:lnTo>
                  <a:lnTo>
                    <a:pt x="16965426" y="8774684"/>
                  </a:lnTo>
                  <a:lnTo>
                    <a:pt x="0" y="87746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027" b="-2027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377373" y="875815"/>
            <a:ext cx="7767627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320"/>
              </a:lnSpc>
            </a:pPr>
            <a:r>
              <a:rPr lang="en-US" sz="8600">
                <a:solidFill>
                  <a:srgbClr val="0B5D7B"/>
                </a:solidFill>
                <a:latin typeface="Ramabhadra"/>
                <a:ea typeface="Ramabhadra"/>
                <a:cs typeface="Ramabhadra"/>
                <a:sym typeface="Ramabhadra"/>
              </a:rPr>
              <a:t>MEDICAL CONDITIONS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0" y="4262983"/>
            <a:ext cx="8384422" cy="3740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209"/>
              </a:lnSpc>
            </a:pPr>
            <a:r>
              <a:rPr lang="en-US" sz="3238" b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The top 5 most common medical conditions are arthritis, diabetes, hypertension, obesity, and cancer. </a:t>
            </a:r>
          </a:p>
          <a:p>
            <a:pPr marL="0" lvl="0" indent="0" algn="just">
              <a:lnSpc>
                <a:spcPts val="4209"/>
              </a:lnSpc>
            </a:pPr>
            <a:endParaRPr lang="en-US" sz="3238" b="1">
              <a:solidFill>
                <a:srgbClr val="0B5D7B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0" lvl="0" indent="0" algn="just">
              <a:lnSpc>
                <a:spcPts val="4209"/>
              </a:lnSpc>
            </a:pPr>
            <a:r>
              <a:rPr lang="en-US" sz="3238" b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Generally, the distribution was shared equally amongst the two genders, except for arthritis, which is more common in females</a:t>
            </a:r>
          </a:p>
        </p:txBody>
      </p:sp>
      <p:sp>
        <p:nvSpPr>
          <p:cNvPr id="6" name="AutoShape 6"/>
          <p:cNvSpPr/>
          <p:nvPr/>
        </p:nvSpPr>
        <p:spPr>
          <a:xfrm>
            <a:off x="9144000" y="3942696"/>
            <a:ext cx="8384422" cy="0"/>
          </a:xfrm>
          <a:prstGeom prst="line">
            <a:avLst/>
          </a:prstGeom>
          <a:ln w="104775" cap="flat">
            <a:solidFill>
              <a:srgbClr val="0B5D7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3518253"/>
            <a:ext cx="10293241" cy="6516475"/>
            <a:chOff x="0" y="0"/>
            <a:chExt cx="16239845" cy="102811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239883" cy="10281154"/>
            </a:xfrm>
            <a:custGeom>
              <a:avLst/>
              <a:gdLst/>
              <a:ahLst/>
              <a:cxnLst/>
              <a:rect l="l" t="t" r="r" b="b"/>
              <a:pathLst>
                <a:path w="16239883" h="10281154">
                  <a:moveTo>
                    <a:pt x="0" y="0"/>
                  </a:moveTo>
                  <a:lnTo>
                    <a:pt x="16239883" y="0"/>
                  </a:lnTo>
                  <a:lnTo>
                    <a:pt x="16239883" y="10281154"/>
                  </a:lnTo>
                  <a:lnTo>
                    <a:pt x="0" y="10281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366" b="-367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10882910" y="4207912"/>
            <a:ext cx="5747740" cy="0"/>
          </a:xfrm>
          <a:prstGeom prst="line">
            <a:avLst/>
          </a:prstGeom>
          <a:ln w="9525" cap="rnd">
            <a:solidFill>
              <a:srgbClr val="0B5D7B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10882910" y="6041651"/>
            <a:ext cx="5747740" cy="0"/>
          </a:xfrm>
          <a:prstGeom prst="line">
            <a:avLst/>
          </a:prstGeom>
          <a:ln w="9525" cap="rnd">
            <a:solidFill>
              <a:srgbClr val="0B5D7B">
                <a:alpha val="29804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882910" y="2844060"/>
            <a:ext cx="5747740" cy="92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65+ age group recorded the highest medical conditions.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882910" y="4413282"/>
            <a:ext cx="5747740" cy="1359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The age groups 18-25 and 56-65 had nearly the same proportion of patients.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10439" y="6468850"/>
            <a:ext cx="5720211" cy="926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Under 18 had the least medical conditions.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22629" y="545148"/>
            <a:ext cx="9136671" cy="909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80"/>
              </a:lnSpc>
            </a:pPr>
            <a:r>
              <a:rPr lang="en-US" sz="5600">
                <a:solidFill>
                  <a:srgbClr val="0B5D7B"/>
                </a:solidFill>
                <a:latin typeface="Ramabhadra"/>
                <a:ea typeface="Ramabhadra"/>
                <a:cs typeface="Ramabhadra"/>
                <a:sym typeface="Ramabhadra"/>
              </a:rPr>
              <a:t>Demographics of Patients</a:t>
            </a:r>
          </a:p>
        </p:txBody>
      </p:sp>
      <p:sp>
        <p:nvSpPr>
          <p:cNvPr id="10" name="AutoShape 10"/>
          <p:cNvSpPr/>
          <p:nvPr/>
        </p:nvSpPr>
        <p:spPr>
          <a:xfrm>
            <a:off x="8498753" y="1845501"/>
            <a:ext cx="8384422" cy="0"/>
          </a:xfrm>
          <a:prstGeom prst="line">
            <a:avLst/>
          </a:prstGeom>
          <a:ln w="571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409344"/>
            <a:ext cx="10352192" cy="5739105"/>
            <a:chOff x="0" y="0"/>
            <a:chExt cx="1789513" cy="9920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9513" cy="992080"/>
            </a:xfrm>
            <a:custGeom>
              <a:avLst/>
              <a:gdLst/>
              <a:ahLst/>
              <a:cxnLst/>
              <a:rect l="l" t="t" r="r" b="b"/>
              <a:pathLst>
                <a:path w="1789513" h="992080">
                  <a:moveTo>
                    <a:pt x="0" y="0"/>
                  </a:moveTo>
                  <a:lnTo>
                    <a:pt x="1789513" y="0"/>
                  </a:lnTo>
                  <a:lnTo>
                    <a:pt x="1789513" y="992080"/>
                  </a:lnTo>
                  <a:lnTo>
                    <a:pt x="0" y="992080"/>
                  </a:lnTo>
                  <a:close/>
                </a:path>
              </a:pathLst>
            </a:custGeom>
            <a:blipFill>
              <a:blip r:embed="rId2"/>
              <a:stretch>
                <a:fillRect t="-5917" b="-5917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10352192" y="2153119"/>
            <a:ext cx="7409604" cy="0"/>
          </a:xfrm>
          <a:prstGeom prst="line">
            <a:avLst/>
          </a:prstGeom>
          <a:ln w="66675" cap="flat">
            <a:solidFill>
              <a:srgbClr val="0B5D7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162221" y="756385"/>
            <a:ext cx="7599575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65"/>
              </a:lnSpc>
            </a:pPr>
            <a:r>
              <a:rPr lang="en-US" sz="5888">
                <a:solidFill>
                  <a:srgbClr val="0B5D7B"/>
                </a:solidFill>
                <a:latin typeface="Ramabhadra"/>
                <a:ea typeface="Ramabhadra"/>
                <a:cs typeface="Ramabhadra"/>
                <a:sym typeface="Ramabhadra"/>
              </a:rPr>
              <a:t>HOSPITAL REVENUE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520373" y="2320127"/>
            <a:ext cx="7767627" cy="157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9"/>
              </a:lnSpc>
            </a:pPr>
            <a:r>
              <a:rPr lang="en-US" sz="3199" b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Smith (7.0M), Johnson (5.7M), Brown (4.9M), Williams (4.8M), and Jones (3.4M) are the top 5 generating hospitals.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6212" y="2142451"/>
            <a:ext cx="11866366" cy="7115849"/>
            <a:chOff x="0" y="0"/>
            <a:chExt cx="14810968" cy="88816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810893" cy="8881676"/>
            </a:xfrm>
            <a:custGeom>
              <a:avLst/>
              <a:gdLst/>
              <a:ahLst/>
              <a:cxnLst/>
              <a:rect l="l" t="t" r="r" b="b"/>
              <a:pathLst>
                <a:path w="14810893" h="8881676">
                  <a:moveTo>
                    <a:pt x="0" y="0"/>
                  </a:moveTo>
                  <a:lnTo>
                    <a:pt x="14810893" y="0"/>
                  </a:lnTo>
                  <a:lnTo>
                    <a:pt x="14810893" y="8881676"/>
                  </a:lnTo>
                  <a:lnTo>
                    <a:pt x="0" y="8881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7" b="-27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12353349" y="2639686"/>
            <a:ext cx="5808095" cy="0"/>
          </a:xfrm>
          <a:prstGeom prst="line">
            <a:avLst/>
          </a:prstGeom>
          <a:ln w="66675" cap="flat">
            <a:solidFill>
              <a:srgbClr val="0B5D7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2606460" y="789901"/>
            <a:ext cx="5554984" cy="1352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70"/>
              </a:lnSpc>
            </a:pPr>
            <a:r>
              <a:rPr lang="en-US" sz="4475">
                <a:solidFill>
                  <a:srgbClr val="0B5D7B"/>
                </a:solidFill>
                <a:latin typeface="Ramabhadra"/>
                <a:ea typeface="Ramabhadra"/>
                <a:cs typeface="Ramabhadra"/>
                <a:sym typeface="Ramabhadra"/>
              </a:rPr>
              <a:t>Hospital Operational Efficiency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606460" y="2849276"/>
            <a:ext cx="5554984" cy="2102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159"/>
              </a:lnSpc>
            </a:pPr>
            <a:r>
              <a:rPr lang="en-US" sz="3199" b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Again, Smith, Johnson, Brown, Williams and Jones have the Top 5 in terms of operational efficiency.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8836186" cy="5450961"/>
            <a:chOff x="0" y="0"/>
            <a:chExt cx="14281494" cy="88101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281533" cy="8810109"/>
            </a:xfrm>
            <a:custGeom>
              <a:avLst/>
              <a:gdLst/>
              <a:ahLst/>
              <a:cxnLst/>
              <a:rect l="l" t="t" r="r" b="b"/>
              <a:pathLst>
                <a:path w="14281533" h="8810109">
                  <a:moveTo>
                    <a:pt x="0" y="0"/>
                  </a:moveTo>
                  <a:lnTo>
                    <a:pt x="14281533" y="0"/>
                  </a:lnTo>
                  <a:lnTo>
                    <a:pt x="14281533" y="8810109"/>
                  </a:lnTo>
                  <a:lnTo>
                    <a:pt x="0" y="8810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119" r="-7119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9523789" y="1698874"/>
            <a:ext cx="8384422" cy="0"/>
          </a:xfrm>
          <a:prstGeom prst="line">
            <a:avLst/>
          </a:prstGeom>
          <a:ln w="57150" cap="flat">
            <a:solidFill>
              <a:srgbClr val="0B5D7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144000" y="4568973"/>
            <a:ext cx="9144000" cy="5718027"/>
          </a:xfrm>
          <a:custGeom>
            <a:avLst/>
            <a:gdLst/>
            <a:ahLst/>
            <a:cxnLst/>
            <a:rect l="l" t="t" r="r" b="b"/>
            <a:pathLst>
              <a:path w="9144000" h="5718027">
                <a:moveTo>
                  <a:pt x="0" y="0"/>
                </a:moveTo>
                <a:lnTo>
                  <a:pt x="9144000" y="0"/>
                </a:lnTo>
                <a:lnTo>
                  <a:pt x="9144000" y="5718027"/>
                </a:lnTo>
                <a:lnTo>
                  <a:pt x="0" y="57180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4" r="-478"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307814" y="7029017"/>
            <a:ext cx="6169186" cy="52387"/>
          </a:xfrm>
          <a:prstGeom prst="line">
            <a:avLst/>
          </a:prstGeom>
          <a:ln w="57150" cap="flat">
            <a:solidFill>
              <a:srgbClr val="0B5D7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9685578" y="-51158"/>
            <a:ext cx="8384422" cy="156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6120"/>
              </a:lnSpc>
            </a:pPr>
            <a:r>
              <a:rPr lang="en-US" sz="4400" dirty="0">
                <a:solidFill>
                  <a:srgbClr val="0B5D7B"/>
                </a:solidFill>
                <a:latin typeface="Ramabhadra"/>
                <a:ea typeface="Ramabhadra"/>
                <a:cs typeface="Ramabhadra"/>
                <a:sym typeface="Ramabhadra"/>
              </a:rPr>
              <a:t>ADMISSION TYPE VS REVENUE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520160" y="1851142"/>
            <a:ext cx="7767627" cy="2194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10"/>
              </a:lnSpc>
            </a:pPr>
            <a:r>
              <a:rPr lang="en-US" sz="2700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The analysis shows little variance across the three categories. However, elective admissions were the most common, generating the bulk of revenue through bills, while emergency admissions were the least common.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7814" y="6171768"/>
            <a:ext cx="7767627" cy="857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20"/>
              </a:lnSpc>
            </a:pPr>
            <a:r>
              <a:rPr lang="en-US" sz="5600" dirty="0">
                <a:solidFill>
                  <a:srgbClr val="0B5D7B"/>
                </a:solidFill>
                <a:latin typeface="Ramabhadra"/>
                <a:ea typeface="Ramabhadra"/>
                <a:cs typeface="Ramabhadra"/>
                <a:sym typeface="Ramabhadra"/>
              </a:rPr>
              <a:t>ADMISSION TYPE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7813" y="7277100"/>
            <a:ext cx="6702587" cy="9727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3900"/>
              </a:lnSpc>
            </a:pPr>
            <a:r>
              <a:rPr lang="en-US" sz="3000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Patients admitted under elective care are the most common.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783654"/>
            <a:ext cx="10856737" cy="6818832"/>
            <a:chOff x="0" y="0"/>
            <a:chExt cx="19087593" cy="1198841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087593" cy="11988455"/>
            </a:xfrm>
            <a:custGeom>
              <a:avLst/>
              <a:gdLst/>
              <a:ahLst/>
              <a:cxnLst/>
              <a:rect l="l" t="t" r="r" b="b"/>
              <a:pathLst>
                <a:path w="19087593" h="11988455">
                  <a:moveTo>
                    <a:pt x="0" y="0"/>
                  </a:moveTo>
                  <a:lnTo>
                    <a:pt x="19087593" y="0"/>
                  </a:lnTo>
                  <a:lnTo>
                    <a:pt x="19087593" y="11988455"/>
                  </a:lnTo>
                  <a:lnTo>
                    <a:pt x="0" y="119884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757" b="-757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1754173" y="278312"/>
            <a:ext cx="5794306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676"/>
              </a:lnSpc>
            </a:pPr>
            <a:r>
              <a:rPr lang="en-US" sz="4730">
                <a:solidFill>
                  <a:srgbClr val="0B5D7B"/>
                </a:solidFill>
                <a:latin typeface="Ramabhadra"/>
                <a:ea typeface="Ramabhadra"/>
                <a:cs typeface="Ramabhadra"/>
                <a:sym typeface="Ramabhadra"/>
              </a:rPr>
              <a:t>Distribution of Patients by Insurance providers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244028" y="3671972"/>
            <a:ext cx="6814597" cy="2055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86"/>
              </a:lnSpc>
            </a:pPr>
            <a:r>
              <a:rPr lang="en-US" sz="3143" b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The analysis shows that most patients are insured with Cigna, with Medicare as the second most common provider.</a:t>
            </a:r>
          </a:p>
        </p:txBody>
      </p:sp>
      <p:sp>
        <p:nvSpPr>
          <p:cNvPr id="6" name="AutoShape 6"/>
          <p:cNvSpPr/>
          <p:nvPr/>
        </p:nvSpPr>
        <p:spPr>
          <a:xfrm flipV="1">
            <a:off x="11514347" y="3095531"/>
            <a:ext cx="6273959" cy="56061"/>
          </a:xfrm>
          <a:prstGeom prst="line">
            <a:avLst/>
          </a:prstGeom>
          <a:ln w="66675" cap="flat">
            <a:solidFill>
              <a:srgbClr val="0B5D7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2563035"/>
            <a:ext cx="9491673" cy="5889718"/>
            <a:chOff x="0" y="0"/>
            <a:chExt cx="17146522" cy="106396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146491" cy="10639602"/>
            </a:xfrm>
            <a:custGeom>
              <a:avLst/>
              <a:gdLst/>
              <a:ahLst/>
              <a:cxnLst/>
              <a:rect l="l" t="t" r="r" b="b"/>
              <a:pathLst>
                <a:path w="17146491" h="10639602">
                  <a:moveTo>
                    <a:pt x="0" y="0"/>
                  </a:moveTo>
                  <a:lnTo>
                    <a:pt x="17146491" y="0"/>
                  </a:lnTo>
                  <a:lnTo>
                    <a:pt x="17146491" y="10639602"/>
                  </a:lnTo>
                  <a:lnTo>
                    <a:pt x="0" y="106396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861" b="-862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9715915" y="959522"/>
            <a:ext cx="7767627" cy="1657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563"/>
              </a:lnSpc>
            </a:pPr>
            <a:r>
              <a:rPr lang="en-US" sz="5469">
                <a:solidFill>
                  <a:srgbClr val="0B5D7B"/>
                </a:solidFill>
                <a:latin typeface="Ramabhadra"/>
                <a:ea typeface="Ramabhadra"/>
                <a:cs typeface="Ramabhadra"/>
                <a:sym typeface="Ramabhadra"/>
              </a:rPr>
              <a:t>MEDICAL CONDITIONS AND TEST RESULTS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15915" y="3594692"/>
            <a:ext cx="8384422" cy="3886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5556" lvl="1" indent="-317778" algn="just">
              <a:lnSpc>
                <a:spcPts val="3826"/>
              </a:lnSpc>
              <a:buFont typeface="Arial"/>
              <a:buChar char="•"/>
            </a:pPr>
            <a:r>
              <a:rPr lang="en-US" sz="2943" b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Test outcomes appear broadly distributed across all medical conditions, with only minor variations. </a:t>
            </a:r>
          </a:p>
          <a:p>
            <a:pPr algn="just">
              <a:lnSpc>
                <a:spcPts val="3826"/>
              </a:lnSpc>
            </a:pPr>
            <a:endParaRPr lang="en-US" sz="2943" b="1">
              <a:solidFill>
                <a:srgbClr val="0B5D7B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635556" lvl="1" indent="-317778" algn="just">
              <a:lnSpc>
                <a:spcPts val="3826"/>
              </a:lnSpc>
              <a:buFont typeface="Arial"/>
              <a:buChar char="•"/>
            </a:pPr>
            <a:r>
              <a:rPr lang="en-US" sz="2943" b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This suggests that patient demographics or other clinical factors may play a larger role in determining diagnostic results than the medical condition alone.</a:t>
            </a:r>
          </a:p>
        </p:txBody>
      </p:sp>
      <p:sp>
        <p:nvSpPr>
          <p:cNvPr id="6" name="AutoShape 6"/>
          <p:cNvSpPr/>
          <p:nvPr/>
        </p:nvSpPr>
        <p:spPr>
          <a:xfrm>
            <a:off x="9715915" y="3336010"/>
            <a:ext cx="8384422" cy="0"/>
          </a:xfrm>
          <a:prstGeom prst="line">
            <a:avLst/>
          </a:prstGeom>
          <a:ln w="104775" cap="flat">
            <a:solidFill>
              <a:srgbClr val="0B5D7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8182" y="1540431"/>
            <a:ext cx="10699855" cy="6851632"/>
            <a:chOff x="0" y="0"/>
            <a:chExt cx="17716474" cy="113447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716391" cy="11344722"/>
            </a:xfrm>
            <a:custGeom>
              <a:avLst/>
              <a:gdLst/>
              <a:ahLst/>
              <a:cxnLst/>
              <a:rect l="l" t="t" r="r" b="b"/>
              <a:pathLst>
                <a:path w="17716391" h="11344722">
                  <a:moveTo>
                    <a:pt x="0" y="0"/>
                  </a:moveTo>
                  <a:lnTo>
                    <a:pt x="17716391" y="0"/>
                  </a:lnTo>
                  <a:lnTo>
                    <a:pt x="17716391" y="11344722"/>
                  </a:lnTo>
                  <a:lnTo>
                    <a:pt x="0" y="113447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7" r="-27"/>
              </a:stretch>
            </a:blipFill>
          </p:spPr>
        </p:sp>
      </p:grpSp>
      <p:sp>
        <p:nvSpPr>
          <p:cNvPr id="4" name="AutoShape 4"/>
          <p:cNvSpPr/>
          <p:nvPr/>
        </p:nvSpPr>
        <p:spPr>
          <a:xfrm>
            <a:off x="11417061" y="2151600"/>
            <a:ext cx="5617996" cy="0"/>
          </a:xfrm>
          <a:prstGeom prst="line">
            <a:avLst/>
          </a:prstGeom>
          <a:ln w="38100" cap="flat">
            <a:solidFill>
              <a:srgbClr val="0B5D7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1260461" y="1141919"/>
            <a:ext cx="6391263" cy="686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61"/>
              </a:lnSpc>
            </a:pPr>
            <a:r>
              <a:rPr lang="en-US" sz="5010">
                <a:solidFill>
                  <a:srgbClr val="0B5D7B"/>
                </a:solidFill>
                <a:latin typeface="Ramabhadra"/>
                <a:ea typeface="Ramabhadra"/>
                <a:cs typeface="Ramabhadra"/>
                <a:sym typeface="Ramabhadra"/>
              </a:rPr>
              <a:t>ADMISSION TRENDS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38761" y="2475281"/>
            <a:ext cx="6234662" cy="3375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3770"/>
              </a:lnSpc>
            </a:pPr>
            <a:r>
              <a:rPr lang="en-US" sz="269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Admission trends fluctuated over the years. There was a sharp growth from 2019 to 2020 (COVID – 19 era), followed by a relative stability between 2020 and 2023. In 2024, admissions dropped sharply, falling by more than half compared to the previous year.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2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586881">
            <a:off x="-2143891" y="-1367752"/>
            <a:ext cx="13022504" cy="13022504"/>
            <a:chOff x="0" y="0"/>
            <a:chExt cx="5588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4586881">
            <a:off x="-6511252" y="3456301"/>
            <a:ext cx="13022504" cy="13022504"/>
            <a:chOff x="0" y="0"/>
            <a:chExt cx="5588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0B5D7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28700" y="3569415"/>
            <a:ext cx="7428166" cy="5987763"/>
            <a:chOff x="0" y="0"/>
            <a:chExt cx="4605527" cy="37124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05527" cy="3712464"/>
            </a:xfrm>
            <a:custGeom>
              <a:avLst/>
              <a:gdLst/>
              <a:ahLst/>
              <a:cxnLst/>
              <a:rect l="l" t="t" r="r" b="b"/>
              <a:pathLst>
                <a:path w="4605527" h="3712464">
                  <a:moveTo>
                    <a:pt x="4605527" y="3712464"/>
                  </a:moveTo>
                  <a:lnTo>
                    <a:pt x="0" y="3712464"/>
                  </a:lnTo>
                  <a:lnTo>
                    <a:pt x="0" y="0"/>
                  </a:lnTo>
                  <a:lnTo>
                    <a:pt x="4605527" y="0"/>
                  </a:lnTo>
                  <a:lnTo>
                    <a:pt x="4605527" y="3712464"/>
                  </a:lnTo>
                  <a:close/>
                </a:path>
              </a:pathLst>
            </a:custGeom>
            <a:blipFill>
              <a:blip r:embed="rId2"/>
              <a:stretch>
                <a:fillRect l="-67" r="-67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7223" y="56419"/>
              <a:ext cx="4439784" cy="3544963"/>
            </a:xfrm>
            <a:custGeom>
              <a:avLst/>
              <a:gdLst/>
              <a:ahLst/>
              <a:cxnLst/>
              <a:rect l="l" t="t" r="r" b="b"/>
              <a:pathLst>
                <a:path w="4439784" h="3544963">
                  <a:moveTo>
                    <a:pt x="2598904" y="3537741"/>
                  </a:moveTo>
                  <a:cubicBezTo>
                    <a:pt x="2198138" y="3570305"/>
                    <a:pt x="1796245" y="3488733"/>
                    <a:pt x="1410931" y="3373809"/>
                  </a:cubicBezTo>
                  <a:cubicBezTo>
                    <a:pt x="1119438" y="3286869"/>
                    <a:pt x="827613" y="3177192"/>
                    <a:pt x="592791" y="2983834"/>
                  </a:cubicBezTo>
                  <a:cubicBezTo>
                    <a:pt x="258061" y="2708211"/>
                    <a:pt x="70414" y="2282556"/>
                    <a:pt x="16437" y="1852320"/>
                  </a:cubicBezTo>
                  <a:cubicBezTo>
                    <a:pt x="-42482" y="1382703"/>
                    <a:pt x="54569" y="881517"/>
                    <a:pt x="346881" y="509277"/>
                  </a:cubicBezTo>
                  <a:cubicBezTo>
                    <a:pt x="639192" y="137036"/>
                    <a:pt x="1141699" y="-80803"/>
                    <a:pt x="1602299" y="28061"/>
                  </a:cubicBezTo>
                  <a:cubicBezTo>
                    <a:pt x="1919216" y="102966"/>
                    <a:pt x="2185109" y="315609"/>
                    <a:pt x="2417440" y="543796"/>
                  </a:cubicBezTo>
                  <a:cubicBezTo>
                    <a:pt x="2649773" y="771986"/>
                    <a:pt x="2862968" y="1023758"/>
                    <a:pt x="3130646" y="1209220"/>
                  </a:cubicBezTo>
                  <a:cubicBezTo>
                    <a:pt x="3350568" y="1361593"/>
                    <a:pt x="3600537" y="1464379"/>
                    <a:pt x="3831642" y="1599187"/>
                  </a:cubicBezTo>
                  <a:cubicBezTo>
                    <a:pt x="4062750" y="1733995"/>
                    <a:pt x="4283249" y="1911537"/>
                    <a:pt x="4389624" y="2157036"/>
                  </a:cubicBezTo>
                  <a:cubicBezTo>
                    <a:pt x="4484465" y="2375919"/>
                    <a:pt x="4436724" y="2585377"/>
                    <a:pt x="4314173" y="2778922"/>
                  </a:cubicBezTo>
                  <a:cubicBezTo>
                    <a:pt x="4290768" y="2815885"/>
                    <a:pt x="4265673" y="2851052"/>
                    <a:pt x="4239038" y="2884514"/>
                  </a:cubicBezTo>
                  <a:cubicBezTo>
                    <a:pt x="3860521" y="3360056"/>
                    <a:pt x="3170880" y="3491265"/>
                    <a:pt x="2598904" y="3537741"/>
                  </a:cubicBezTo>
                  <a:close/>
                  <a:moveTo>
                    <a:pt x="4180927" y="1106976"/>
                  </a:moveTo>
                  <a:cubicBezTo>
                    <a:pt x="4248907" y="1080507"/>
                    <a:pt x="4313003" y="1027338"/>
                    <a:pt x="4319730" y="950370"/>
                  </a:cubicBezTo>
                  <a:cubicBezTo>
                    <a:pt x="4323514" y="907078"/>
                    <a:pt x="4312522" y="863954"/>
                    <a:pt x="4300322" y="822246"/>
                  </a:cubicBezTo>
                  <a:cubicBezTo>
                    <a:pt x="4204743" y="495489"/>
                    <a:pt x="3972919" y="-60230"/>
                    <a:pt x="3542809" y="5320"/>
                  </a:cubicBezTo>
                  <a:cubicBezTo>
                    <a:pt x="3434541" y="21821"/>
                    <a:pt x="3333575" y="70251"/>
                    <a:pt x="3240117" y="127346"/>
                  </a:cubicBezTo>
                  <a:cubicBezTo>
                    <a:pt x="3130150" y="194527"/>
                    <a:pt x="3019870" y="287869"/>
                    <a:pt x="3002277" y="415528"/>
                  </a:cubicBezTo>
                  <a:cubicBezTo>
                    <a:pt x="2985375" y="538161"/>
                    <a:pt x="3059756" y="654652"/>
                    <a:pt x="3143822" y="745521"/>
                  </a:cubicBezTo>
                  <a:cubicBezTo>
                    <a:pt x="3289919" y="903443"/>
                    <a:pt x="3487926" y="1011162"/>
                    <a:pt x="3695450" y="1063927"/>
                  </a:cubicBezTo>
                  <a:cubicBezTo>
                    <a:pt x="3816432" y="1094687"/>
                    <a:pt x="3950269" y="1132291"/>
                    <a:pt x="4075611" y="1128467"/>
                  </a:cubicBezTo>
                  <a:cubicBezTo>
                    <a:pt x="4110870" y="1127390"/>
                    <a:pt x="4147272" y="1120077"/>
                    <a:pt x="4180927" y="1106976"/>
                  </a:cubicBezTo>
                  <a:close/>
                </a:path>
              </a:pathLst>
            </a:custGeom>
            <a:blipFill>
              <a:blip r:embed="rId3"/>
              <a:stretch>
                <a:fillRect l="-9884" r="-9884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648094" y="560261"/>
            <a:ext cx="10251286" cy="988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7"/>
              </a:lnSpc>
            </a:pPr>
            <a:r>
              <a:rPr lang="en-US" sz="6699" dirty="0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CLINICAL INSIGHTS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65975" y="292709"/>
            <a:ext cx="6935199" cy="9832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5472" lvl="1" indent="-292736" algn="just">
              <a:lnSpc>
                <a:spcPts val="3796"/>
              </a:lnSpc>
              <a:buFont typeface="Arial"/>
              <a:buChar char="•"/>
            </a:pPr>
            <a:r>
              <a:rPr lang="en-US" sz="271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Medical conditions were more common among older age groups.</a:t>
            </a:r>
          </a:p>
          <a:p>
            <a:pPr algn="just">
              <a:lnSpc>
                <a:spcPts val="3796"/>
              </a:lnSpc>
            </a:pPr>
            <a:endParaRPr lang="en-US" sz="27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796"/>
              </a:lnSpc>
            </a:pPr>
            <a:endParaRPr lang="en-US" sz="27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85472" lvl="1" indent="-292736" algn="just">
              <a:lnSpc>
                <a:spcPts val="3796"/>
              </a:lnSpc>
              <a:buFont typeface="Arial"/>
              <a:buChar char="•"/>
            </a:pPr>
            <a:r>
              <a:rPr lang="en-US" sz="271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Hospital revenue increased alongside operational efficiency, indicating that higher patient volume drives revenue growth.</a:t>
            </a:r>
          </a:p>
          <a:p>
            <a:pPr algn="just">
              <a:lnSpc>
                <a:spcPts val="3796"/>
              </a:lnSpc>
            </a:pPr>
            <a:endParaRPr lang="en-US" sz="27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796"/>
              </a:lnSpc>
            </a:pPr>
            <a:endParaRPr lang="en-US" sz="27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85472" lvl="1" indent="-292736" algn="just">
              <a:lnSpc>
                <a:spcPts val="3796"/>
              </a:lnSpc>
              <a:buFont typeface="Arial"/>
              <a:buChar char="•"/>
            </a:pPr>
            <a:r>
              <a:rPr lang="en-US" sz="271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Elective admissions were significantly higher than emergency and urgent admissions.</a:t>
            </a:r>
          </a:p>
          <a:p>
            <a:pPr algn="just">
              <a:lnSpc>
                <a:spcPts val="3796"/>
              </a:lnSpc>
            </a:pPr>
            <a:endParaRPr lang="en-US" sz="27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796"/>
              </a:lnSpc>
            </a:pPr>
            <a:endParaRPr lang="en-US" sz="27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85472" lvl="1" indent="-292736" algn="just">
              <a:lnSpc>
                <a:spcPts val="3796"/>
              </a:lnSpc>
              <a:spcBef>
                <a:spcPct val="0"/>
              </a:spcBef>
              <a:buFont typeface="Arial"/>
              <a:buChar char="•"/>
            </a:pPr>
            <a:r>
              <a:rPr lang="en-US" sz="271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Test results remained fairly balanced across all medical conditions, showing little influence of condition type on outcomes.</a:t>
            </a:r>
          </a:p>
          <a:p>
            <a:pPr algn="just">
              <a:lnSpc>
                <a:spcPts val="6450"/>
              </a:lnSpc>
              <a:spcBef>
                <a:spcPct val="0"/>
              </a:spcBef>
            </a:pPr>
            <a:endParaRPr lang="en-US" sz="27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48094" y="1823532"/>
            <a:ext cx="561799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92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586881">
            <a:off x="-2143891" y="-1367752"/>
            <a:ext cx="13022504" cy="13022504"/>
            <a:chOff x="0" y="0"/>
            <a:chExt cx="558800" cy="558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4586881">
            <a:off x="-6511252" y="3456301"/>
            <a:ext cx="13022504" cy="13022504"/>
            <a:chOff x="0" y="0"/>
            <a:chExt cx="558800" cy="558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33042" y="234291"/>
                  </a:moveTo>
                  <a:cubicBezTo>
                    <a:pt x="49299" y="253840"/>
                    <a:pt x="49332" y="305706"/>
                    <a:pt x="33167" y="325331"/>
                  </a:cubicBezTo>
                  <a:cubicBezTo>
                    <a:pt x="12843" y="350003"/>
                    <a:pt x="669" y="381568"/>
                    <a:pt x="669" y="415884"/>
                  </a:cubicBezTo>
                  <a:cubicBezTo>
                    <a:pt x="669" y="495135"/>
                    <a:pt x="64865" y="558800"/>
                    <a:pt x="143251" y="558800"/>
                  </a:cubicBezTo>
                  <a:cubicBezTo>
                    <a:pt x="177745" y="558800"/>
                    <a:pt x="209318" y="546669"/>
                    <a:pt x="233976" y="526404"/>
                  </a:cubicBezTo>
                  <a:cubicBezTo>
                    <a:pt x="253647" y="510238"/>
                    <a:pt x="305827" y="510235"/>
                    <a:pt x="325498" y="526401"/>
                  </a:cubicBezTo>
                  <a:cubicBezTo>
                    <a:pt x="350157" y="546668"/>
                    <a:pt x="381730" y="558800"/>
                    <a:pt x="416232" y="558800"/>
                  </a:cubicBezTo>
                  <a:cubicBezTo>
                    <a:pt x="494618" y="558800"/>
                    <a:pt x="558800" y="495135"/>
                    <a:pt x="558800" y="415884"/>
                  </a:cubicBezTo>
                  <a:cubicBezTo>
                    <a:pt x="558800" y="381312"/>
                    <a:pt x="546247" y="349534"/>
                    <a:pt x="525581" y="324782"/>
                  </a:cubicBezTo>
                  <a:cubicBezTo>
                    <a:pt x="509342" y="305335"/>
                    <a:pt x="509342" y="254131"/>
                    <a:pt x="525556" y="234663"/>
                  </a:cubicBezTo>
                  <a:cubicBezTo>
                    <a:pt x="546238" y="209831"/>
                    <a:pt x="558800" y="177872"/>
                    <a:pt x="558800" y="142916"/>
                  </a:cubicBezTo>
                  <a:cubicBezTo>
                    <a:pt x="558800" y="64349"/>
                    <a:pt x="494618" y="0"/>
                    <a:pt x="416232" y="0"/>
                  </a:cubicBezTo>
                  <a:cubicBezTo>
                    <a:pt x="382027" y="0"/>
                    <a:pt x="350824" y="11865"/>
                    <a:pt x="326295" y="31724"/>
                  </a:cubicBezTo>
                  <a:cubicBezTo>
                    <a:pt x="306327" y="47891"/>
                    <a:pt x="252153" y="47709"/>
                    <a:pt x="232185" y="31544"/>
                  </a:cubicBezTo>
                  <a:cubicBezTo>
                    <a:pt x="207787" y="11793"/>
                    <a:pt x="176670" y="0"/>
                    <a:pt x="142568" y="0"/>
                  </a:cubicBezTo>
                  <a:cubicBezTo>
                    <a:pt x="64181" y="0"/>
                    <a:pt x="0" y="64349"/>
                    <a:pt x="0" y="142916"/>
                  </a:cubicBezTo>
                  <a:cubicBezTo>
                    <a:pt x="0" y="177697"/>
                    <a:pt x="12437" y="209512"/>
                    <a:pt x="33042" y="234291"/>
                  </a:cubicBezTo>
                  <a:close/>
                </a:path>
              </a:pathLst>
            </a:custGeom>
            <a:solidFill>
              <a:srgbClr val="0B5D7B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44450" y="6350"/>
              <a:ext cx="469900" cy="508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404061" y="2261651"/>
            <a:ext cx="9050522" cy="7295526"/>
            <a:chOff x="0" y="0"/>
            <a:chExt cx="4605527" cy="371246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605527" cy="3712464"/>
            </a:xfrm>
            <a:custGeom>
              <a:avLst/>
              <a:gdLst/>
              <a:ahLst/>
              <a:cxnLst/>
              <a:rect l="l" t="t" r="r" b="b"/>
              <a:pathLst>
                <a:path w="4605527" h="3712464">
                  <a:moveTo>
                    <a:pt x="4605527" y="3712464"/>
                  </a:moveTo>
                  <a:lnTo>
                    <a:pt x="0" y="3712464"/>
                  </a:lnTo>
                  <a:lnTo>
                    <a:pt x="0" y="0"/>
                  </a:lnTo>
                  <a:lnTo>
                    <a:pt x="4605527" y="0"/>
                  </a:lnTo>
                  <a:lnTo>
                    <a:pt x="4605527" y="3712464"/>
                  </a:lnTo>
                  <a:close/>
                </a:path>
              </a:pathLst>
            </a:custGeom>
            <a:blipFill>
              <a:blip r:embed="rId2"/>
              <a:stretch>
                <a:fillRect l="-67" r="-67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87223" y="56419"/>
              <a:ext cx="4439784" cy="3544963"/>
            </a:xfrm>
            <a:custGeom>
              <a:avLst/>
              <a:gdLst/>
              <a:ahLst/>
              <a:cxnLst/>
              <a:rect l="l" t="t" r="r" b="b"/>
              <a:pathLst>
                <a:path w="4439784" h="3544963">
                  <a:moveTo>
                    <a:pt x="2598904" y="3537741"/>
                  </a:moveTo>
                  <a:cubicBezTo>
                    <a:pt x="2198138" y="3570305"/>
                    <a:pt x="1796245" y="3488733"/>
                    <a:pt x="1410931" y="3373809"/>
                  </a:cubicBezTo>
                  <a:cubicBezTo>
                    <a:pt x="1119438" y="3286869"/>
                    <a:pt x="827613" y="3177192"/>
                    <a:pt x="592791" y="2983834"/>
                  </a:cubicBezTo>
                  <a:cubicBezTo>
                    <a:pt x="258061" y="2708211"/>
                    <a:pt x="70414" y="2282556"/>
                    <a:pt x="16437" y="1852320"/>
                  </a:cubicBezTo>
                  <a:cubicBezTo>
                    <a:pt x="-42482" y="1382703"/>
                    <a:pt x="54569" y="881517"/>
                    <a:pt x="346881" y="509277"/>
                  </a:cubicBezTo>
                  <a:cubicBezTo>
                    <a:pt x="639192" y="137036"/>
                    <a:pt x="1141699" y="-80803"/>
                    <a:pt x="1602299" y="28061"/>
                  </a:cubicBezTo>
                  <a:cubicBezTo>
                    <a:pt x="1919216" y="102966"/>
                    <a:pt x="2185109" y="315609"/>
                    <a:pt x="2417440" y="543796"/>
                  </a:cubicBezTo>
                  <a:cubicBezTo>
                    <a:pt x="2649773" y="771986"/>
                    <a:pt x="2862968" y="1023758"/>
                    <a:pt x="3130646" y="1209220"/>
                  </a:cubicBezTo>
                  <a:cubicBezTo>
                    <a:pt x="3350568" y="1361593"/>
                    <a:pt x="3600537" y="1464379"/>
                    <a:pt x="3831642" y="1599187"/>
                  </a:cubicBezTo>
                  <a:cubicBezTo>
                    <a:pt x="4062750" y="1733995"/>
                    <a:pt x="4283249" y="1911537"/>
                    <a:pt x="4389624" y="2157036"/>
                  </a:cubicBezTo>
                  <a:cubicBezTo>
                    <a:pt x="4484465" y="2375919"/>
                    <a:pt x="4436724" y="2585377"/>
                    <a:pt x="4314173" y="2778922"/>
                  </a:cubicBezTo>
                  <a:cubicBezTo>
                    <a:pt x="4290768" y="2815885"/>
                    <a:pt x="4265673" y="2851052"/>
                    <a:pt x="4239038" y="2884514"/>
                  </a:cubicBezTo>
                  <a:cubicBezTo>
                    <a:pt x="3860521" y="3360056"/>
                    <a:pt x="3170880" y="3491265"/>
                    <a:pt x="2598904" y="3537741"/>
                  </a:cubicBezTo>
                  <a:close/>
                  <a:moveTo>
                    <a:pt x="4180927" y="1106976"/>
                  </a:moveTo>
                  <a:cubicBezTo>
                    <a:pt x="4248907" y="1080507"/>
                    <a:pt x="4313003" y="1027338"/>
                    <a:pt x="4319730" y="950370"/>
                  </a:cubicBezTo>
                  <a:cubicBezTo>
                    <a:pt x="4323514" y="907078"/>
                    <a:pt x="4312522" y="863954"/>
                    <a:pt x="4300322" y="822246"/>
                  </a:cubicBezTo>
                  <a:cubicBezTo>
                    <a:pt x="4204743" y="495489"/>
                    <a:pt x="3972919" y="-60230"/>
                    <a:pt x="3542809" y="5320"/>
                  </a:cubicBezTo>
                  <a:cubicBezTo>
                    <a:pt x="3434541" y="21821"/>
                    <a:pt x="3333575" y="70251"/>
                    <a:pt x="3240117" y="127346"/>
                  </a:cubicBezTo>
                  <a:cubicBezTo>
                    <a:pt x="3130150" y="194527"/>
                    <a:pt x="3019870" y="287869"/>
                    <a:pt x="3002277" y="415528"/>
                  </a:cubicBezTo>
                  <a:cubicBezTo>
                    <a:pt x="2985375" y="538161"/>
                    <a:pt x="3059756" y="654652"/>
                    <a:pt x="3143822" y="745521"/>
                  </a:cubicBezTo>
                  <a:cubicBezTo>
                    <a:pt x="3289919" y="903443"/>
                    <a:pt x="3487926" y="1011162"/>
                    <a:pt x="3695450" y="1063927"/>
                  </a:cubicBezTo>
                  <a:cubicBezTo>
                    <a:pt x="3816432" y="1094687"/>
                    <a:pt x="3950269" y="1132291"/>
                    <a:pt x="4075611" y="1128467"/>
                  </a:cubicBezTo>
                  <a:cubicBezTo>
                    <a:pt x="4110870" y="1127390"/>
                    <a:pt x="4147272" y="1120077"/>
                    <a:pt x="4180927" y="1106976"/>
                  </a:cubicBezTo>
                  <a:close/>
                </a:path>
              </a:pathLst>
            </a:custGeom>
            <a:blipFill>
              <a:blip r:embed="rId3"/>
              <a:stretch>
                <a:fillRect l="-20973" r="-20973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648094" y="560261"/>
            <a:ext cx="10251286" cy="97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37"/>
              </a:lnSpc>
            </a:pPr>
            <a:r>
              <a:rPr lang="en-US" sz="6699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RECOMMENDATIONS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65975" y="292709"/>
            <a:ext cx="6935199" cy="9134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3883" lvl="1" indent="-281941" algn="just">
              <a:lnSpc>
                <a:spcPts val="3656"/>
              </a:lnSpc>
              <a:buFont typeface="Arial"/>
              <a:buChar char="•"/>
            </a:pPr>
            <a:r>
              <a:rPr lang="en-US" sz="261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Implement targeted preventive healthcare programs and routine screenings for older age groups to reduce the prevalence of medical conditions.</a:t>
            </a:r>
          </a:p>
          <a:p>
            <a:pPr algn="just">
              <a:lnSpc>
                <a:spcPts val="3656"/>
              </a:lnSpc>
            </a:pPr>
            <a:endParaRPr lang="en-US" sz="26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656"/>
              </a:lnSpc>
            </a:pPr>
            <a:endParaRPr lang="en-US" sz="26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63883" lvl="1" indent="-281941" algn="just">
              <a:lnSpc>
                <a:spcPts val="3656"/>
              </a:lnSpc>
              <a:buFont typeface="Arial"/>
              <a:buChar char="•"/>
            </a:pPr>
            <a:r>
              <a:rPr lang="en-US" sz="261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Improve resource allocation and patient flow management to sustain operational efficiency while accommodating increasing patient volumes.</a:t>
            </a:r>
          </a:p>
          <a:p>
            <a:pPr algn="just">
              <a:lnSpc>
                <a:spcPts val="3656"/>
              </a:lnSpc>
            </a:pPr>
            <a:endParaRPr lang="en-US" sz="26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656"/>
              </a:lnSpc>
            </a:pPr>
            <a:endParaRPr lang="en-US" sz="26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63883" lvl="1" indent="-281941" algn="just">
              <a:lnSpc>
                <a:spcPts val="3656"/>
              </a:lnSpc>
              <a:buFont typeface="Arial"/>
              <a:buChar char="•"/>
            </a:pPr>
            <a:r>
              <a:rPr lang="en-US" sz="261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Expand and optimise elective care services, while ensuring adequate capacity remains available for emergency and urgent cases.</a:t>
            </a:r>
          </a:p>
          <a:p>
            <a:pPr algn="just">
              <a:lnSpc>
                <a:spcPts val="3656"/>
              </a:lnSpc>
            </a:pPr>
            <a:endParaRPr lang="en-US" sz="26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algn="just">
              <a:lnSpc>
                <a:spcPts val="3656"/>
              </a:lnSpc>
            </a:pPr>
            <a:endParaRPr lang="en-US" sz="2611" b="1">
              <a:solidFill>
                <a:srgbClr val="FFFFFF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563883" lvl="1" indent="-281941" algn="just">
              <a:lnSpc>
                <a:spcPts val="3656"/>
              </a:lnSpc>
              <a:spcBef>
                <a:spcPct val="0"/>
              </a:spcBef>
              <a:buFont typeface="Arial"/>
              <a:buChar char="•"/>
            </a:pPr>
            <a:r>
              <a:rPr lang="en-US" sz="261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Further medical analysis may be needed to improve test outcomes.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48094" y="1823532"/>
            <a:ext cx="561799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553178" y="1173305"/>
            <a:ext cx="8011179" cy="993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75"/>
              </a:lnSpc>
            </a:pPr>
            <a:r>
              <a:rPr lang="en-US" sz="6977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G</a:t>
            </a:r>
            <a:r>
              <a:rPr lang="en-US" sz="6977" u="none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ROUP MEMBERS</a:t>
            </a:r>
          </a:p>
        </p:txBody>
      </p:sp>
      <p:sp>
        <p:nvSpPr>
          <p:cNvPr id="3" name="AutoShape 3"/>
          <p:cNvSpPr/>
          <p:nvPr/>
        </p:nvSpPr>
        <p:spPr>
          <a:xfrm>
            <a:off x="10379941" y="2712206"/>
            <a:ext cx="5617996" cy="0"/>
          </a:xfrm>
          <a:prstGeom prst="line">
            <a:avLst/>
          </a:prstGeom>
          <a:ln w="38100" cap="flat">
            <a:solidFill>
              <a:srgbClr val="0B5D7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2412073" y="1570038"/>
            <a:ext cx="5817527" cy="7849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Okpara Righteousness</a:t>
            </a: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Aniekan</a:t>
            </a: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 Udoh</a:t>
            </a: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Obeya</a:t>
            </a: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Ogbene</a:t>
            </a: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 Esther</a:t>
            </a: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Ajekwe Moses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Zanzan</a:t>
            </a:r>
            <a:endParaRPr lang="en-US" sz="2963" b="1" dirty="0">
              <a:solidFill>
                <a:srgbClr val="0B5D7B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Owolabi Babatunde Peter</a:t>
            </a: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Blessing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Ajoke</a:t>
            </a: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Ahwe</a:t>
            </a:r>
            <a:endParaRPr lang="en-US" sz="2963" b="1" dirty="0">
              <a:solidFill>
                <a:srgbClr val="0B5D7B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Kayode Omotayo Blessing</a:t>
            </a: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Barnabas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Agbo</a:t>
            </a: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Emaiku</a:t>
            </a:r>
            <a:endParaRPr lang="en-US" sz="2963" b="1" dirty="0">
              <a:solidFill>
                <a:srgbClr val="0B5D7B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Tayyib</a:t>
            </a: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Mariya</a:t>
            </a: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 Umar</a:t>
            </a: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Armah Louis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Nii</a:t>
            </a: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Tettey</a:t>
            </a:r>
            <a:endParaRPr lang="en-US" sz="2963" b="1" dirty="0">
              <a:solidFill>
                <a:srgbClr val="0B5D7B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Emem</a:t>
            </a: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Ejikeme</a:t>
            </a:r>
            <a:endParaRPr lang="en-US" sz="2963" b="1" dirty="0">
              <a:solidFill>
                <a:srgbClr val="0B5D7B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Egbeji</a:t>
            </a: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 Victoria</a:t>
            </a: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Dominic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Takyi</a:t>
            </a:r>
            <a:endParaRPr lang="en-US" sz="2963" b="1" dirty="0">
              <a:solidFill>
                <a:srgbClr val="0B5D7B"/>
              </a:solidFill>
              <a:latin typeface="Roboto Bold"/>
              <a:ea typeface="Roboto Bold"/>
              <a:cs typeface="Roboto Bold"/>
              <a:sym typeface="Roboto Bold"/>
            </a:endParaRPr>
          </a:p>
          <a:p>
            <a:pPr marL="639900" lvl="1" indent="-319950" algn="l">
              <a:lnSpc>
                <a:spcPts val="4149"/>
              </a:lnSpc>
              <a:buAutoNum type="arabicPeriod"/>
            </a:pP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Emmanuel Victoria</a:t>
            </a:r>
          </a:p>
          <a:p>
            <a:pPr marL="639900" lvl="1" indent="-319950" algn="l">
              <a:lnSpc>
                <a:spcPts val="4149"/>
              </a:lnSpc>
              <a:spcBef>
                <a:spcPct val="0"/>
              </a:spcBef>
              <a:buAutoNum type="arabicPeriod"/>
            </a:pPr>
            <a:r>
              <a:rPr lang="en-US" sz="2963" b="1" dirty="0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Damilola </a:t>
            </a:r>
            <a:r>
              <a:rPr lang="en-US" sz="2963" b="1" dirty="0" err="1">
                <a:solidFill>
                  <a:srgbClr val="0B5D7B"/>
                </a:solidFill>
                <a:latin typeface="Roboto Bold"/>
                <a:ea typeface="Roboto Bold"/>
                <a:cs typeface="Roboto Bold"/>
                <a:sym typeface="Roboto Bold"/>
              </a:rPr>
              <a:t>Oluwasegun</a:t>
            </a:r>
            <a:endParaRPr lang="en-US" sz="2963" b="1" dirty="0">
              <a:solidFill>
                <a:srgbClr val="0B5D7B"/>
              </a:solidFill>
              <a:latin typeface="Roboto Bold"/>
              <a:ea typeface="Roboto Bold"/>
              <a:cs typeface="Roboto Bold"/>
              <a:sym typeface="Roboto Bol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80830" y="1618636"/>
            <a:ext cx="13926339" cy="7049727"/>
            <a:chOff x="0" y="0"/>
            <a:chExt cx="1104089" cy="5589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104089" cy="558907"/>
            </a:xfrm>
            <a:custGeom>
              <a:avLst/>
              <a:gdLst/>
              <a:ahLst/>
              <a:cxnLst/>
              <a:rect l="l" t="t" r="r" b="b"/>
              <a:pathLst>
                <a:path w="1104089" h="558907">
                  <a:moveTo>
                    <a:pt x="1104089" y="279453"/>
                  </a:moveTo>
                  <a:lnTo>
                    <a:pt x="900889" y="558907"/>
                  </a:lnTo>
                  <a:lnTo>
                    <a:pt x="203200" y="558907"/>
                  </a:lnTo>
                  <a:lnTo>
                    <a:pt x="0" y="279453"/>
                  </a:lnTo>
                  <a:lnTo>
                    <a:pt x="203200" y="0"/>
                  </a:lnTo>
                  <a:lnTo>
                    <a:pt x="900889" y="0"/>
                  </a:lnTo>
                  <a:lnTo>
                    <a:pt x="1104089" y="27945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14300" y="-38100"/>
              <a:ext cx="875489" cy="5970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65710" y="3966548"/>
            <a:ext cx="11756579" cy="20702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67"/>
              </a:lnSpc>
            </a:pPr>
            <a:r>
              <a:rPr lang="en-US" sz="14182">
                <a:solidFill>
                  <a:srgbClr val="0092C8"/>
                </a:solidFill>
                <a:latin typeface="Ramabhadra"/>
                <a:ea typeface="Ramabhadra"/>
                <a:cs typeface="Ramabhadra"/>
                <a:sym typeface="Ramabhadra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761</Words>
  <Application>Microsoft Office PowerPoint</Application>
  <PresentationFormat>Custom</PresentationFormat>
  <Paragraphs>98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Roboto</vt:lpstr>
      <vt:lpstr>Arial</vt:lpstr>
      <vt:lpstr>Ramabhadra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by Group 2.pptx</dc:title>
  <cp:lastModifiedBy>Moses Ajekwe</cp:lastModifiedBy>
  <cp:revision>13</cp:revision>
  <dcterms:created xsi:type="dcterms:W3CDTF">2006-08-16T00:00:00Z</dcterms:created>
  <dcterms:modified xsi:type="dcterms:W3CDTF">2026-05-21T14:40:37Z</dcterms:modified>
  <dc:identifier>DAHKPMu_tHM</dc:identifier>
</cp:coreProperties>
</file>